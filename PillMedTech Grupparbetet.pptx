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360" r:id="rId2"/>
    <p:sldId id="264" r:id="rId3"/>
    <p:sldId id="323" r:id="rId4"/>
    <p:sldId id="258" r:id="rId5"/>
    <p:sldId id="326" r:id="rId6"/>
    <p:sldId id="329" r:id="rId7"/>
    <p:sldId id="263" r:id="rId8"/>
    <p:sldId id="354" r:id="rId9"/>
    <p:sldId id="355" r:id="rId10"/>
    <p:sldId id="356" r:id="rId11"/>
    <p:sldId id="262" r:id="rId12"/>
    <p:sldId id="337" r:id="rId13"/>
    <p:sldId id="357" r:id="rId14"/>
    <p:sldId id="361" r:id="rId15"/>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CF7F58-32D3-F4D3-8470-B6FBDBA624A1}" v="156" dt="2025-09-27T11:41:55.800"/>
    <p1510:client id="{9EF98F75-88B1-8F45-84E0-AE2F7D99637B}" v="1788" dt="2025-09-26T14:04:25.172"/>
    <p1510:client id="{AA2ABDBA-C6FD-D547-2B0F-F18D7CCD3F00}" v="8" dt="2025-09-26T18:11:56.235"/>
    <p1510:client id="{DD2BF044-6803-D043-BA37-D355AB7E5FA2}" v="214" dt="2025-09-27T12:43:02.713"/>
  </p1510:revLst>
</p1510:revInfo>
</file>

<file path=ppt/tableStyles.xml><?xml version="1.0" encoding="utf-8"?>
<a:tblStyleLst xmlns:a="http://schemas.openxmlformats.org/drawingml/2006/main" def="{5C22544A-7EE6-4342-B048-85BDC9FD1C3A}">
  <a:tblStyle styleId="{5C22544A-7EE6-4342-B048-85BDC9FD1C3A}" styleName="Mellanmörkt format 2 - Dekorfär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825"/>
    <p:restoredTop sz="94635"/>
  </p:normalViewPr>
  <p:slideViewPr>
    <p:cSldViewPr snapToGrid="0">
      <p:cViewPr>
        <p:scale>
          <a:sx n="107" d="100"/>
          <a:sy n="107" d="100"/>
        </p:scale>
        <p:origin x="640" y="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1EFD11-116B-40A9-8D14-F2A5CAD006B7}" type="datetimeFigureOut">
              <a:t>2026-06-02</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A58C73-4038-4EB2-91AD-1517E431D9AB}" type="slidenum">
              <a:t>‹#›</a:t>
            </a:fld>
            <a:endParaRPr lang="sv-SE"/>
          </a:p>
        </p:txBody>
      </p:sp>
    </p:spTree>
    <p:extLst>
      <p:ext uri="{BB962C8B-B14F-4D97-AF65-F5344CB8AC3E}">
        <p14:creationId xmlns:p14="http://schemas.microsoft.com/office/powerpoint/2010/main" val="292480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t>Här är en tom mall som ni kan fylla i ert</a:t>
            </a:r>
            <a:r>
              <a:rPr lang="sv-SE" baseline="0"/>
              <a:t> resultat. </a:t>
            </a:r>
            <a:endParaRPr lang="sv-SE"/>
          </a:p>
        </p:txBody>
      </p:sp>
      <p:sp>
        <p:nvSpPr>
          <p:cNvPr id="4" name="Platshållare för bildnummer 3"/>
          <p:cNvSpPr>
            <a:spLocks noGrp="1"/>
          </p:cNvSpPr>
          <p:nvPr>
            <p:ph type="sldNum" sz="quarter" idx="10"/>
          </p:nvPr>
        </p:nvSpPr>
        <p:spPr/>
        <p:txBody>
          <a:bodyPr/>
          <a:lstStyle/>
          <a:p>
            <a:fld id="{6CDBA984-0FD2-49BE-8401-5AB3DDB2E137}" type="slidenum">
              <a:rPr lang="sv-SE" smtClean="0"/>
              <a:t>3</a:t>
            </a:fld>
            <a:endParaRPr lang="sv-SE"/>
          </a:p>
        </p:txBody>
      </p:sp>
    </p:spTree>
    <p:extLst>
      <p:ext uri="{BB962C8B-B14F-4D97-AF65-F5344CB8AC3E}">
        <p14:creationId xmlns:p14="http://schemas.microsoft.com/office/powerpoint/2010/main" val="29928422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a:t>NI2 vad är det vad täcker det, </a:t>
            </a:r>
          </a:p>
        </p:txBody>
      </p:sp>
      <p:sp>
        <p:nvSpPr>
          <p:cNvPr id="4" name="Platshållare för bildnummer 3"/>
          <p:cNvSpPr>
            <a:spLocks noGrp="1"/>
          </p:cNvSpPr>
          <p:nvPr>
            <p:ph type="sldNum" sz="quarter" idx="5"/>
          </p:nvPr>
        </p:nvSpPr>
        <p:spPr/>
        <p:txBody>
          <a:bodyPr/>
          <a:lstStyle/>
          <a:p>
            <a:fld id="{34A58C73-4038-4EB2-91AD-1517E431D9AB}" type="slidenum">
              <a:rPr lang="sv-SE"/>
              <a:t>12</a:t>
            </a:fld>
            <a:endParaRPr lang="sv-SE"/>
          </a:p>
        </p:txBody>
      </p:sp>
    </p:spTree>
    <p:extLst>
      <p:ext uri="{BB962C8B-B14F-4D97-AF65-F5344CB8AC3E}">
        <p14:creationId xmlns:p14="http://schemas.microsoft.com/office/powerpoint/2010/main" val="2685954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04406-9FC5-ACFE-893D-D4EADEB1A89D}"/>
              </a:ext>
            </a:extLst>
          </p:cNvPr>
          <p:cNvSpPr>
            <a:spLocks noGrp="1"/>
          </p:cNvSpPr>
          <p:nvPr>
            <p:ph type="ctrTitle"/>
          </p:nvPr>
        </p:nvSpPr>
        <p:spPr>
          <a:xfrm>
            <a:off x="308388" y="745440"/>
            <a:ext cx="8132227" cy="3559859"/>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BC0AF19C-C14B-F137-2DE9-1992459045F5}"/>
              </a:ext>
            </a:extLst>
          </p:cNvPr>
          <p:cNvSpPr>
            <a:spLocks noGrp="1"/>
          </p:cNvSpPr>
          <p:nvPr>
            <p:ph type="subTitle" idx="1"/>
          </p:nvPr>
        </p:nvSpPr>
        <p:spPr>
          <a:xfrm>
            <a:off x="317308" y="4669316"/>
            <a:ext cx="8132227" cy="13504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C6A999-B8D4-1774-9F1B-9F9FE1B3BFA6}"/>
              </a:ext>
            </a:extLst>
          </p:cNvPr>
          <p:cNvSpPr>
            <a:spLocks noGrp="1"/>
          </p:cNvSpPr>
          <p:nvPr>
            <p:ph type="dt" sz="half" idx="10"/>
          </p:nvPr>
        </p:nvSpPr>
        <p:spPr/>
        <p:txBody>
          <a:bodyPr/>
          <a:lstStyle/>
          <a:p>
            <a:fld id="{F2EE3B7B-C7B5-42CF-90CF-67B3D21B2314}" type="datetimeFigureOut">
              <a:rPr lang="en-US" dirty="0"/>
              <a:t>6/2/2026</a:t>
            </a:fld>
            <a:endParaRPr lang="en-US"/>
          </a:p>
        </p:txBody>
      </p:sp>
      <p:sp>
        <p:nvSpPr>
          <p:cNvPr id="5" name="Footer Placeholder 4">
            <a:extLst>
              <a:ext uri="{FF2B5EF4-FFF2-40B4-BE49-F238E27FC236}">
                <a16:creationId xmlns:a16="http://schemas.microsoft.com/office/drawing/2014/main" id="{61165D5D-2AE2-6F91-D1EB-6DD8FC3CE64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F0029E4-3A4E-970A-17A8-1E17D37D1F2B}"/>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32874761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5D22A-1F6D-0DE5-E04A-DC466353DA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4ADD6F-7C93-3CD3-AC8D-28A78787CB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706E74-14FC-84D9-4B41-7D9FB0D573C4}"/>
              </a:ext>
            </a:extLst>
          </p:cNvPr>
          <p:cNvSpPr>
            <a:spLocks noGrp="1"/>
          </p:cNvSpPr>
          <p:nvPr>
            <p:ph type="dt" sz="half" idx="10"/>
          </p:nvPr>
        </p:nvSpPr>
        <p:spPr/>
        <p:txBody>
          <a:bodyPr/>
          <a:lstStyle/>
          <a:p>
            <a:fld id="{0F996519-E62D-4F8C-AE1E-36928EC7D15C}" type="datetimeFigureOut">
              <a:rPr lang="en-US" dirty="0"/>
              <a:t>6/2/2026</a:t>
            </a:fld>
            <a:endParaRPr lang="en-US"/>
          </a:p>
        </p:txBody>
      </p:sp>
      <p:sp>
        <p:nvSpPr>
          <p:cNvPr id="5" name="Footer Placeholder 4">
            <a:extLst>
              <a:ext uri="{FF2B5EF4-FFF2-40B4-BE49-F238E27FC236}">
                <a16:creationId xmlns:a16="http://schemas.microsoft.com/office/drawing/2014/main" id="{1F35A7DC-6292-6181-949E-F8BC3FA11BA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050F5C6-EADC-E072-B19B-49BB11DF0309}"/>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12604856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2054-1AE7-534F-0CFE-1F0628A09FC1}"/>
              </a:ext>
            </a:extLst>
          </p:cNvPr>
          <p:cNvSpPr>
            <a:spLocks noGrp="1"/>
          </p:cNvSpPr>
          <p:nvPr>
            <p:ph type="title"/>
          </p:nvPr>
        </p:nvSpPr>
        <p:spPr>
          <a:xfrm>
            <a:off x="340138" y="2243708"/>
            <a:ext cx="9156288" cy="3776091"/>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3988EC2A-45C7-131C-0F4A-56E62EB029C2}"/>
              </a:ext>
            </a:extLst>
          </p:cNvPr>
          <p:cNvSpPr>
            <a:spLocks noGrp="1"/>
          </p:cNvSpPr>
          <p:nvPr>
            <p:ph type="body" idx="1"/>
          </p:nvPr>
        </p:nvSpPr>
        <p:spPr>
          <a:xfrm>
            <a:off x="340137" y="838201"/>
            <a:ext cx="9156289" cy="1405508"/>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75A323-2679-E978-8856-2FEBE8F5AE45}"/>
              </a:ext>
            </a:extLst>
          </p:cNvPr>
          <p:cNvSpPr>
            <a:spLocks noGrp="1"/>
          </p:cNvSpPr>
          <p:nvPr>
            <p:ph type="dt" sz="half" idx="10"/>
          </p:nvPr>
        </p:nvSpPr>
        <p:spPr/>
        <p:txBody>
          <a:bodyPr/>
          <a:lstStyle/>
          <a:p>
            <a:fld id="{6477AEB6-FCE1-4CD5-923B-84E54F1460D5}" type="datetimeFigureOut">
              <a:rPr lang="en-US" dirty="0"/>
              <a:t>6/2/2026</a:t>
            </a:fld>
            <a:endParaRPr lang="en-US"/>
          </a:p>
        </p:txBody>
      </p:sp>
      <p:sp>
        <p:nvSpPr>
          <p:cNvPr id="5" name="Footer Placeholder 4">
            <a:extLst>
              <a:ext uri="{FF2B5EF4-FFF2-40B4-BE49-F238E27FC236}">
                <a16:creationId xmlns:a16="http://schemas.microsoft.com/office/drawing/2014/main" id="{2C971DC2-625E-0477-BF8C-F3CDDCE4B11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EF1A644-D449-E464-C2DF-F045A51899D0}"/>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3283015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12719-44A3-3EE8-D757-F0E0F9632AEC}"/>
              </a:ext>
            </a:extLst>
          </p:cNvPr>
          <p:cNvSpPr>
            <a:spLocks noGrp="1"/>
          </p:cNvSpPr>
          <p:nvPr>
            <p:ph type="title"/>
          </p:nvPr>
        </p:nvSpPr>
        <p:spPr>
          <a:xfrm>
            <a:off x="303197" y="750627"/>
            <a:ext cx="10846556" cy="1304150"/>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40440DC2-69F2-A056-508C-F5138E71FCA2}"/>
              </a:ext>
            </a:extLst>
          </p:cNvPr>
          <p:cNvSpPr>
            <a:spLocks noGrp="1"/>
          </p:cNvSpPr>
          <p:nvPr>
            <p:ph sz="half" idx="1"/>
          </p:nvPr>
        </p:nvSpPr>
        <p:spPr>
          <a:xfrm>
            <a:off x="1056961" y="2075250"/>
            <a:ext cx="4571288" cy="4101492"/>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DA2243E-0673-54F2-5B38-DF5D2C7367F4}"/>
              </a:ext>
            </a:extLst>
          </p:cNvPr>
          <p:cNvSpPr>
            <a:spLocks noGrp="1"/>
          </p:cNvSpPr>
          <p:nvPr>
            <p:ph sz="half" idx="2"/>
          </p:nvPr>
        </p:nvSpPr>
        <p:spPr>
          <a:xfrm>
            <a:off x="6379560" y="2075250"/>
            <a:ext cx="4770191" cy="4101492"/>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946B7D-7BAF-8DE9-FB5A-282908B03106}"/>
              </a:ext>
            </a:extLst>
          </p:cNvPr>
          <p:cNvSpPr>
            <a:spLocks noGrp="1"/>
          </p:cNvSpPr>
          <p:nvPr>
            <p:ph type="dt" sz="half" idx="10"/>
          </p:nvPr>
        </p:nvSpPr>
        <p:spPr/>
        <p:txBody>
          <a:bodyPr/>
          <a:lstStyle/>
          <a:p>
            <a:fld id="{96374C2F-71A1-43C9-B2F6-A4FAC8157F1A}" type="datetimeFigureOut">
              <a:rPr lang="en-US" dirty="0"/>
              <a:t>6/2/2026</a:t>
            </a:fld>
            <a:endParaRPr lang="en-US"/>
          </a:p>
        </p:txBody>
      </p:sp>
      <p:sp>
        <p:nvSpPr>
          <p:cNvPr id="6" name="Footer Placeholder 5">
            <a:extLst>
              <a:ext uri="{FF2B5EF4-FFF2-40B4-BE49-F238E27FC236}">
                <a16:creationId xmlns:a16="http://schemas.microsoft.com/office/drawing/2014/main" id="{0AF99017-BDD7-56C7-43AE-4B86AC78194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CF6E7D63-14BF-E333-B350-75DA58E281CF}"/>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1676239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7F72-3970-859F-C268-E9940EF2D0E4}"/>
              </a:ext>
            </a:extLst>
          </p:cNvPr>
          <p:cNvSpPr>
            <a:spLocks noGrp="1"/>
          </p:cNvSpPr>
          <p:nvPr>
            <p:ph type="title"/>
          </p:nvPr>
        </p:nvSpPr>
        <p:spPr>
          <a:xfrm>
            <a:off x="305649" y="743803"/>
            <a:ext cx="10764271" cy="1025362"/>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F9B37CC6-89B8-3CF3-6973-1B5B71782F56}"/>
              </a:ext>
            </a:extLst>
          </p:cNvPr>
          <p:cNvSpPr>
            <a:spLocks noGrp="1"/>
          </p:cNvSpPr>
          <p:nvPr>
            <p:ph type="body" idx="1"/>
          </p:nvPr>
        </p:nvSpPr>
        <p:spPr>
          <a:xfrm>
            <a:off x="1056961"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650EB0-E35B-DA3D-B6A1-2422B01C6005}"/>
              </a:ext>
            </a:extLst>
          </p:cNvPr>
          <p:cNvSpPr>
            <a:spLocks noGrp="1"/>
          </p:cNvSpPr>
          <p:nvPr>
            <p:ph sz="half" idx="2"/>
          </p:nvPr>
        </p:nvSpPr>
        <p:spPr>
          <a:xfrm>
            <a:off x="1056961" y="2678597"/>
            <a:ext cx="4571287" cy="35067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7A15D0-F178-1506-0E61-C8FFDF9BD6B5}"/>
              </a:ext>
            </a:extLst>
          </p:cNvPr>
          <p:cNvSpPr>
            <a:spLocks noGrp="1"/>
          </p:cNvSpPr>
          <p:nvPr>
            <p:ph type="body" sz="quarter" idx="3"/>
          </p:nvPr>
        </p:nvSpPr>
        <p:spPr>
          <a:xfrm>
            <a:off x="6498633"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6CB421-A65A-A7DC-40A7-D8B76F9C3A3A}"/>
              </a:ext>
            </a:extLst>
          </p:cNvPr>
          <p:cNvSpPr>
            <a:spLocks noGrp="1"/>
          </p:cNvSpPr>
          <p:nvPr>
            <p:ph sz="quarter" idx="4"/>
          </p:nvPr>
        </p:nvSpPr>
        <p:spPr>
          <a:xfrm>
            <a:off x="6498633" y="2678596"/>
            <a:ext cx="4571287" cy="35067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AF5675-5329-D2DB-FAFF-700D076CA886}"/>
              </a:ext>
            </a:extLst>
          </p:cNvPr>
          <p:cNvSpPr>
            <a:spLocks noGrp="1"/>
          </p:cNvSpPr>
          <p:nvPr>
            <p:ph type="dt" sz="half" idx="10"/>
          </p:nvPr>
        </p:nvSpPr>
        <p:spPr/>
        <p:txBody>
          <a:bodyPr/>
          <a:lstStyle/>
          <a:p>
            <a:fld id="{AD631DCC-9916-4BB7-A2E9-25EC84C740A7}" type="datetimeFigureOut">
              <a:rPr lang="en-US" dirty="0"/>
              <a:t>6/2/2026</a:t>
            </a:fld>
            <a:endParaRPr lang="en-US"/>
          </a:p>
        </p:txBody>
      </p:sp>
      <p:sp>
        <p:nvSpPr>
          <p:cNvPr id="8" name="Footer Placeholder 7">
            <a:extLst>
              <a:ext uri="{FF2B5EF4-FFF2-40B4-BE49-F238E27FC236}">
                <a16:creationId xmlns:a16="http://schemas.microsoft.com/office/drawing/2014/main" id="{D1392A97-07D9-5E5C-2A31-3B7D764CE1B8}"/>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4E626143-8FEE-0ABD-25C7-C34AF6568B83}"/>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3960105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26EFE-D86C-B076-D4D1-FAD1883E0813}"/>
              </a:ext>
            </a:extLst>
          </p:cNvPr>
          <p:cNvSpPr>
            <a:spLocks noGrp="1"/>
          </p:cNvSpPr>
          <p:nvPr>
            <p:ph type="title"/>
          </p:nvPr>
        </p:nvSpPr>
        <p:spPr>
          <a:xfrm>
            <a:off x="308387" y="757766"/>
            <a:ext cx="7240293" cy="3547534"/>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C23F3B23-C631-4B62-3211-30222ABE1C33}"/>
              </a:ext>
            </a:extLst>
          </p:cNvPr>
          <p:cNvSpPr>
            <a:spLocks noGrp="1"/>
          </p:cNvSpPr>
          <p:nvPr>
            <p:ph type="dt" sz="half" idx="10"/>
          </p:nvPr>
        </p:nvSpPr>
        <p:spPr/>
        <p:txBody>
          <a:bodyPr/>
          <a:lstStyle/>
          <a:p>
            <a:fld id="{AF59146A-335D-4B7F-86AE-5D483B1F631C}" type="datetimeFigureOut">
              <a:rPr lang="en-US" dirty="0"/>
              <a:t>6/2/2026</a:t>
            </a:fld>
            <a:endParaRPr lang="en-US"/>
          </a:p>
        </p:txBody>
      </p:sp>
      <p:sp>
        <p:nvSpPr>
          <p:cNvPr id="4" name="Footer Placeholder 3">
            <a:extLst>
              <a:ext uri="{FF2B5EF4-FFF2-40B4-BE49-F238E27FC236}">
                <a16:creationId xmlns:a16="http://schemas.microsoft.com/office/drawing/2014/main" id="{7789A1FB-EA0D-F6A3-A4EB-001AA082AAFF}"/>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C6D671B7-A902-587D-89D0-ECFB738FD702}"/>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383928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A27D49-E5B4-0E67-FCFC-62A04E705682}"/>
              </a:ext>
            </a:extLst>
          </p:cNvPr>
          <p:cNvSpPr>
            <a:spLocks noGrp="1"/>
          </p:cNvSpPr>
          <p:nvPr>
            <p:ph type="dt" sz="half" idx="10"/>
          </p:nvPr>
        </p:nvSpPr>
        <p:spPr/>
        <p:txBody>
          <a:bodyPr/>
          <a:lstStyle/>
          <a:p>
            <a:fld id="{DD71D8EC-8E17-4CE6-99C2-C22488572868}" type="datetimeFigureOut">
              <a:rPr lang="en-US" dirty="0"/>
              <a:t>6/2/2026</a:t>
            </a:fld>
            <a:endParaRPr lang="en-US"/>
          </a:p>
        </p:txBody>
      </p:sp>
      <p:sp>
        <p:nvSpPr>
          <p:cNvPr id="3" name="Footer Placeholder 2">
            <a:extLst>
              <a:ext uri="{FF2B5EF4-FFF2-40B4-BE49-F238E27FC236}">
                <a16:creationId xmlns:a16="http://schemas.microsoft.com/office/drawing/2014/main" id="{6B0E4B02-DD32-C63F-6FEE-BC36E2EFD012}"/>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CF25FA8B-18F7-7DDC-74E0-B1C7139E7B05}"/>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2529624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2D42A-8FC3-F6BE-4CF7-1490DE4FD462}"/>
              </a:ext>
            </a:extLst>
          </p:cNvPr>
          <p:cNvSpPr>
            <a:spLocks noGrp="1"/>
          </p:cNvSpPr>
          <p:nvPr>
            <p:ph type="title"/>
          </p:nvPr>
        </p:nvSpPr>
        <p:spPr>
          <a:xfrm>
            <a:off x="317395" y="766636"/>
            <a:ext cx="3951745" cy="1510628"/>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AA2BAA-1CCB-696D-D506-5E1747080119}"/>
              </a:ext>
            </a:extLst>
          </p:cNvPr>
          <p:cNvSpPr>
            <a:spLocks noGrp="1"/>
          </p:cNvSpPr>
          <p:nvPr>
            <p:ph idx="1"/>
          </p:nvPr>
        </p:nvSpPr>
        <p:spPr>
          <a:xfrm>
            <a:off x="5105400" y="702452"/>
            <a:ext cx="6249988" cy="531734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B3C3E7-B970-EF6C-A6D3-6CB81C948775}"/>
              </a:ext>
            </a:extLst>
          </p:cNvPr>
          <p:cNvSpPr>
            <a:spLocks noGrp="1"/>
          </p:cNvSpPr>
          <p:nvPr>
            <p:ph type="body" sz="half" idx="2"/>
          </p:nvPr>
        </p:nvSpPr>
        <p:spPr>
          <a:xfrm>
            <a:off x="323953" y="2277264"/>
            <a:ext cx="3752747" cy="374253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F32464-D130-7DA0-050D-B444566B1A2F}"/>
              </a:ext>
            </a:extLst>
          </p:cNvPr>
          <p:cNvSpPr>
            <a:spLocks noGrp="1"/>
          </p:cNvSpPr>
          <p:nvPr>
            <p:ph type="dt" sz="half" idx="10"/>
          </p:nvPr>
        </p:nvSpPr>
        <p:spPr/>
        <p:txBody>
          <a:bodyPr/>
          <a:lstStyle/>
          <a:p>
            <a:fld id="{9A750ABA-DFFA-4B13-BB77-624D9164A38B}" type="datetimeFigureOut">
              <a:rPr lang="en-US" dirty="0"/>
              <a:t>6/2/2026</a:t>
            </a:fld>
            <a:endParaRPr lang="en-US"/>
          </a:p>
        </p:txBody>
      </p:sp>
      <p:sp>
        <p:nvSpPr>
          <p:cNvPr id="6" name="Footer Placeholder 5">
            <a:extLst>
              <a:ext uri="{FF2B5EF4-FFF2-40B4-BE49-F238E27FC236}">
                <a16:creationId xmlns:a16="http://schemas.microsoft.com/office/drawing/2014/main" id="{3FC2B3B4-209E-187A-6F86-2F2EAD9F7476}"/>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036A2A86-6CB1-F027-66AC-8EBFA9D0647A}"/>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2029066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68F49-A418-C21F-25DC-E4C2E1716387}"/>
              </a:ext>
            </a:extLst>
          </p:cNvPr>
          <p:cNvSpPr>
            <a:spLocks noGrp="1"/>
          </p:cNvSpPr>
          <p:nvPr>
            <p:ph type="title"/>
          </p:nvPr>
        </p:nvSpPr>
        <p:spPr>
          <a:xfrm>
            <a:off x="318972" y="765850"/>
            <a:ext cx="3995693" cy="1774778"/>
          </a:xfrm>
        </p:spPr>
        <p:txBody>
          <a:bodyPr anchor="t"/>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78CDE2-0C1B-D3BE-F399-98D983EF4534}"/>
              </a:ext>
            </a:extLst>
          </p:cNvPr>
          <p:cNvSpPr>
            <a:spLocks noGrp="1" noChangeAspect="1"/>
          </p:cNvSpPr>
          <p:nvPr>
            <p:ph type="pic" idx="1"/>
          </p:nvPr>
        </p:nvSpPr>
        <p:spPr>
          <a:xfrm>
            <a:off x="5105400" y="838200"/>
            <a:ext cx="6249988" cy="51815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38786322-CA2D-A634-C10E-4F22BCE48B7F}"/>
              </a:ext>
            </a:extLst>
          </p:cNvPr>
          <p:cNvSpPr>
            <a:spLocks noGrp="1"/>
          </p:cNvSpPr>
          <p:nvPr>
            <p:ph type="body" sz="half" idx="2"/>
          </p:nvPr>
        </p:nvSpPr>
        <p:spPr>
          <a:xfrm>
            <a:off x="340137" y="2552699"/>
            <a:ext cx="3736563" cy="3467099"/>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AD0DD6-F55F-4437-DEC5-FA6028509A2D}"/>
              </a:ext>
            </a:extLst>
          </p:cNvPr>
          <p:cNvSpPr>
            <a:spLocks noGrp="1"/>
          </p:cNvSpPr>
          <p:nvPr>
            <p:ph type="dt" sz="half" idx="10"/>
          </p:nvPr>
        </p:nvSpPr>
        <p:spPr>
          <a:xfrm>
            <a:off x="340137" y="63202"/>
            <a:ext cx="2743200" cy="318221"/>
          </a:xfrm>
        </p:spPr>
        <p:txBody>
          <a:bodyPr/>
          <a:lstStyle/>
          <a:p>
            <a:fld id="{3220A08F-2B1D-4498-A043-7C299B1C2561}" type="datetimeFigureOut">
              <a:rPr lang="en-US" dirty="0"/>
              <a:t>6/2/2026</a:t>
            </a:fld>
            <a:endParaRPr lang="en-US"/>
          </a:p>
        </p:txBody>
      </p:sp>
      <p:sp>
        <p:nvSpPr>
          <p:cNvPr id="6" name="Footer Placeholder 5">
            <a:extLst>
              <a:ext uri="{FF2B5EF4-FFF2-40B4-BE49-F238E27FC236}">
                <a16:creationId xmlns:a16="http://schemas.microsoft.com/office/drawing/2014/main" id="{595B46D7-EE7C-E399-6A6B-18237228F6B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F211B808-3207-D755-3B0B-E1D8814B2FA1}"/>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1112493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CDEBC-9F49-FA9D-D13C-DB380A6281E2}"/>
              </a:ext>
            </a:extLst>
          </p:cNvPr>
          <p:cNvSpPr>
            <a:spLocks noGrp="1"/>
          </p:cNvSpPr>
          <p:nvPr>
            <p:ph type="title"/>
          </p:nvPr>
        </p:nvSpPr>
        <p:spPr>
          <a:xfrm>
            <a:off x="308387" y="757451"/>
            <a:ext cx="10875953" cy="1214650"/>
          </a:xfrm>
        </p:spPr>
        <p:txBody>
          <a:bodyPr anchor="t"/>
          <a:lstStyle/>
          <a:p>
            <a:r>
              <a:rPr lang="en-US"/>
              <a:t>Click to edit Master title style</a:t>
            </a:r>
          </a:p>
        </p:txBody>
      </p:sp>
      <p:sp>
        <p:nvSpPr>
          <p:cNvPr id="3" name="Vertical Text Placeholder 2">
            <a:extLst>
              <a:ext uri="{FF2B5EF4-FFF2-40B4-BE49-F238E27FC236}">
                <a16:creationId xmlns:a16="http://schemas.microsoft.com/office/drawing/2014/main" id="{BA00CB13-23E6-D711-450C-A85A0CB99576}"/>
              </a:ext>
            </a:extLst>
          </p:cNvPr>
          <p:cNvSpPr>
            <a:spLocks noGrp="1"/>
          </p:cNvSpPr>
          <p:nvPr>
            <p:ph type="body" orient="vert" idx="1"/>
          </p:nvPr>
        </p:nvSpPr>
        <p:spPr>
          <a:xfrm>
            <a:off x="335467" y="1972101"/>
            <a:ext cx="10848873" cy="40476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89BB7B-5C14-76DB-FEA8-3DBC09A96516}"/>
              </a:ext>
            </a:extLst>
          </p:cNvPr>
          <p:cNvSpPr>
            <a:spLocks noGrp="1"/>
          </p:cNvSpPr>
          <p:nvPr>
            <p:ph type="dt" sz="half" idx="10"/>
          </p:nvPr>
        </p:nvSpPr>
        <p:spPr/>
        <p:txBody>
          <a:bodyPr/>
          <a:lstStyle/>
          <a:p>
            <a:fld id="{6BAD9902-F134-45BD-ABD2-80C28059B090}" type="datetimeFigureOut">
              <a:rPr lang="en-US" dirty="0"/>
              <a:t>6/2/2026</a:t>
            </a:fld>
            <a:endParaRPr lang="en-US"/>
          </a:p>
        </p:txBody>
      </p:sp>
      <p:sp>
        <p:nvSpPr>
          <p:cNvPr id="5" name="Footer Placeholder 4">
            <a:extLst>
              <a:ext uri="{FF2B5EF4-FFF2-40B4-BE49-F238E27FC236}">
                <a16:creationId xmlns:a16="http://schemas.microsoft.com/office/drawing/2014/main" id="{48BC13CC-29B3-9FDC-C746-D5D65CC2A5D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AB52A12-895F-E9BE-5289-4E0411BD3F4B}"/>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942119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A17614-2270-537D-8B09-6CB65016AD8F}"/>
              </a:ext>
            </a:extLst>
          </p:cNvPr>
          <p:cNvSpPr>
            <a:spLocks noGrp="1"/>
          </p:cNvSpPr>
          <p:nvPr>
            <p:ph type="title" orient="vert"/>
          </p:nvPr>
        </p:nvSpPr>
        <p:spPr>
          <a:xfrm>
            <a:off x="9359496" y="755981"/>
            <a:ext cx="2277552" cy="533836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BC98B5-885C-CBB1-A858-76F65F7D28BD}"/>
              </a:ext>
            </a:extLst>
          </p:cNvPr>
          <p:cNvSpPr>
            <a:spLocks noGrp="1"/>
          </p:cNvSpPr>
          <p:nvPr>
            <p:ph type="body" orient="vert" idx="1"/>
          </p:nvPr>
        </p:nvSpPr>
        <p:spPr>
          <a:xfrm>
            <a:off x="838199" y="755981"/>
            <a:ext cx="8230086" cy="53383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E5DAFE-6A83-FB7D-72DF-232EFE20424E}"/>
              </a:ext>
            </a:extLst>
          </p:cNvPr>
          <p:cNvSpPr>
            <a:spLocks noGrp="1"/>
          </p:cNvSpPr>
          <p:nvPr>
            <p:ph type="dt" sz="half" idx="10"/>
          </p:nvPr>
        </p:nvSpPr>
        <p:spPr/>
        <p:txBody>
          <a:bodyPr/>
          <a:lstStyle/>
          <a:p>
            <a:fld id="{C2B04DB0-379A-41B7-9B29-7F42F0D571D5}" type="datetimeFigureOut">
              <a:rPr lang="en-US" dirty="0"/>
              <a:t>6/2/2026</a:t>
            </a:fld>
            <a:endParaRPr lang="en-US"/>
          </a:p>
        </p:txBody>
      </p:sp>
      <p:sp>
        <p:nvSpPr>
          <p:cNvPr id="5" name="Footer Placeholder 4">
            <a:extLst>
              <a:ext uri="{FF2B5EF4-FFF2-40B4-BE49-F238E27FC236}">
                <a16:creationId xmlns:a16="http://schemas.microsoft.com/office/drawing/2014/main" id="{43B41CCF-A3CD-506E-3AAE-CAEFA8C1BB1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420DD9D-25C2-0EDF-A6F4-71946D57B3CD}"/>
              </a:ext>
            </a:extLst>
          </p:cNvPr>
          <p:cNvSpPr>
            <a:spLocks noGrp="1"/>
          </p:cNvSpPr>
          <p:nvPr>
            <p:ph type="sldNum" sz="quarter" idx="12"/>
          </p:nvPr>
        </p:nvSpPr>
        <p:spPr/>
        <p:txBody>
          <a:bodyPr/>
          <a:lstStyle/>
          <a:p>
            <a:fld id="{6E91CC32-6A6B-4E2E-BBA1-6864F305DA26}" type="slidenum">
              <a:rPr lang="en-US" dirty="0"/>
              <a:t>‹#›</a:t>
            </a:fld>
            <a:endParaRPr lang="en-US"/>
          </a:p>
        </p:txBody>
      </p:sp>
    </p:spTree>
    <p:extLst>
      <p:ext uri="{BB962C8B-B14F-4D97-AF65-F5344CB8AC3E}">
        <p14:creationId xmlns:p14="http://schemas.microsoft.com/office/powerpoint/2010/main" val="3930658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FF45E2-9197-4E34-029A-725ADAC0C752}"/>
              </a:ext>
            </a:extLst>
          </p:cNvPr>
          <p:cNvSpPr>
            <a:spLocks noGrp="1"/>
          </p:cNvSpPr>
          <p:nvPr>
            <p:ph type="title"/>
          </p:nvPr>
        </p:nvSpPr>
        <p:spPr>
          <a:xfrm>
            <a:off x="308387" y="620202"/>
            <a:ext cx="9956747" cy="143878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268CC19E-63FE-1D76-2550-01FD9A6D9A95}"/>
              </a:ext>
            </a:extLst>
          </p:cNvPr>
          <p:cNvSpPr>
            <a:spLocks noGrp="1"/>
          </p:cNvSpPr>
          <p:nvPr>
            <p:ph type="body" idx="1"/>
          </p:nvPr>
        </p:nvSpPr>
        <p:spPr>
          <a:xfrm>
            <a:off x="335467" y="2306781"/>
            <a:ext cx="9956747" cy="38701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DFA067-55BA-33CD-E6F2-B24B2D5DE896}"/>
              </a:ext>
            </a:extLst>
          </p:cNvPr>
          <p:cNvSpPr>
            <a:spLocks noGrp="1"/>
          </p:cNvSpPr>
          <p:nvPr>
            <p:ph type="dt" sz="half" idx="2"/>
          </p:nvPr>
        </p:nvSpPr>
        <p:spPr>
          <a:xfrm>
            <a:off x="340137" y="63202"/>
            <a:ext cx="2743200" cy="318221"/>
          </a:xfrm>
          <a:prstGeom prst="rect">
            <a:avLst/>
          </a:prstGeom>
        </p:spPr>
        <p:txBody>
          <a:bodyPr vert="horz" lIns="91440" tIns="45720" rIns="91440" bIns="45720" rtlCol="0" anchor="ctr"/>
          <a:lstStyle>
            <a:lvl1pPr algn="l">
              <a:defRPr sz="800">
                <a:solidFill>
                  <a:schemeClr val="tx1"/>
                </a:solidFill>
              </a:defRPr>
            </a:lvl1pPr>
          </a:lstStyle>
          <a:p>
            <a:fld id="{567E9B64-DC09-41C8-9DE3-DA74AF8D2F97}" type="datetimeFigureOut">
              <a:rPr lang="en-US" dirty="0"/>
              <a:t>6/2/2026</a:t>
            </a:fld>
            <a:endParaRPr lang="en-US"/>
          </a:p>
        </p:txBody>
      </p:sp>
      <p:sp>
        <p:nvSpPr>
          <p:cNvPr id="5" name="Footer Placeholder 4">
            <a:extLst>
              <a:ext uri="{FF2B5EF4-FFF2-40B4-BE49-F238E27FC236}">
                <a16:creationId xmlns:a16="http://schemas.microsoft.com/office/drawing/2014/main" id="{C965EAE2-7EF5-FFAA-CD74-AA63C671197D}"/>
              </a:ext>
            </a:extLst>
          </p:cNvPr>
          <p:cNvSpPr>
            <a:spLocks noGrp="1"/>
          </p:cNvSpPr>
          <p:nvPr>
            <p:ph type="ftr" sz="quarter" idx="3"/>
          </p:nvPr>
        </p:nvSpPr>
        <p:spPr>
          <a:xfrm>
            <a:off x="7344016" y="6424761"/>
            <a:ext cx="4059936" cy="365125"/>
          </a:xfrm>
          <a:prstGeom prst="rect">
            <a:avLst/>
          </a:prstGeom>
        </p:spPr>
        <p:txBody>
          <a:bodyPr vert="horz" lIns="91440" tIns="45720" rIns="91440" bIns="45720" rtlCol="0" anchor="ctr"/>
          <a:lstStyle>
            <a:lvl1pPr algn="r">
              <a:defRPr sz="800" b="0" cap="all" spc="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D109DC1A-2539-3AE9-11EA-B87D22E62CDB}"/>
              </a:ext>
            </a:extLst>
          </p:cNvPr>
          <p:cNvSpPr>
            <a:spLocks noGrp="1"/>
          </p:cNvSpPr>
          <p:nvPr>
            <p:ph type="sldNum" sz="quarter" idx="4"/>
          </p:nvPr>
        </p:nvSpPr>
        <p:spPr>
          <a:xfrm>
            <a:off x="11403951" y="6425816"/>
            <a:ext cx="429768" cy="365125"/>
          </a:xfrm>
          <a:prstGeom prst="rect">
            <a:avLst/>
          </a:prstGeom>
        </p:spPr>
        <p:txBody>
          <a:bodyPr vert="horz" lIns="91440" tIns="45720" rIns="91440" bIns="45720" rtlCol="0" anchor="ctr"/>
          <a:lstStyle>
            <a:lvl1pPr algn="r">
              <a:defRPr sz="800">
                <a:solidFill>
                  <a:schemeClr val="tx1"/>
                </a:solidFill>
              </a:defRPr>
            </a:lvl1pPr>
          </a:lstStyle>
          <a:p>
            <a:fld id="{6E91CC32-6A6B-4E2E-BBA1-6864F305DA26}" type="slidenum">
              <a:rPr lang="en-US" dirty="0"/>
              <a:t>‹#›</a:t>
            </a:fld>
            <a:endParaRPr lang="en-US"/>
          </a:p>
        </p:txBody>
      </p:sp>
    </p:spTree>
    <p:extLst>
      <p:ext uri="{BB962C8B-B14F-4D97-AF65-F5344CB8AC3E}">
        <p14:creationId xmlns:p14="http://schemas.microsoft.com/office/powerpoint/2010/main" val="158157247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6868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528">
          <p15:clr>
            <a:srgbClr val="F26B43"/>
          </p15:clr>
        </p15:guide>
        <p15:guide id="19" orient="horz" pos="2160">
          <p15:clr>
            <a:srgbClr val="F26B43"/>
          </p15:clr>
        </p15:guide>
        <p15:guide id="20"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AF47B9-8C31-A0AE-D275-F9B26C64D6B8}"/>
            </a:ext>
          </a:extLst>
        </p:cNvPr>
        <p:cNvGrpSpPr/>
        <p:nvPr/>
      </p:nvGrpSpPr>
      <p:grpSpPr>
        <a:xfrm>
          <a:off x="0" y="0"/>
          <a:ext cx="0" cy="0"/>
          <a:chOff x="0" y="0"/>
          <a:chExt cx="0" cy="0"/>
        </a:xfrm>
      </p:grpSpPr>
      <p:sp>
        <p:nvSpPr>
          <p:cNvPr id="2" name="Rubrik 1">
            <a:extLst>
              <a:ext uri="{FF2B5EF4-FFF2-40B4-BE49-F238E27FC236}">
                <a16:creationId xmlns:a16="http://schemas.microsoft.com/office/drawing/2014/main" id="{E3467890-B310-80B5-B099-E01A4CE476FC}"/>
              </a:ext>
            </a:extLst>
          </p:cNvPr>
          <p:cNvSpPr>
            <a:spLocks noGrp="1"/>
          </p:cNvSpPr>
          <p:nvPr>
            <p:ph type="title"/>
          </p:nvPr>
        </p:nvSpPr>
        <p:spPr>
          <a:xfrm>
            <a:off x="1150729" y="283494"/>
            <a:ext cx="9895951" cy="1033669"/>
          </a:xfrm>
        </p:spPr>
        <p:txBody>
          <a:bodyPr>
            <a:normAutofit/>
          </a:bodyPr>
          <a:lstStyle/>
          <a:p>
            <a:pPr algn="ctr"/>
            <a:r>
              <a:rPr lang="sv-SE">
                <a:solidFill>
                  <a:srgbClr val="FFFFFF"/>
                </a:solidFill>
              </a:rPr>
              <a:t>Ledningens genomgång</a:t>
            </a:r>
          </a:p>
        </p:txBody>
      </p:sp>
      <p:sp>
        <p:nvSpPr>
          <p:cNvPr id="4" name="Rubrik 1">
            <a:extLst>
              <a:ext uri="{FF2B5EF4-FFF2-40B4-BE49-F238E27FC236}">
                <a16:creationId xmlns:a16="http://schemas.microsoft.com/office/drawing/2014/main" id="{67B22E62-BC2B-7607-1B67-23298AD066EC}"/>
              </a:ext>
            </a:extLst>
          </p:cNvPr>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sv-SE"/>
          </a:p>
        </p:txBody>
      </p:sp>
      <p:sp>
        <p:nvSpPr>
          <p:cNvPr id="5" name="Platshållare för innehåll 2">
            <a:extLst>
              <a:ext uri="{FF2B5EF4-FFF2-40B4-BE49-F238E27FC236}">
                <a16:creationId xmlns:a16="http://schemas.microsoft.com/office/drawing/2014/main" id="{98A9FA2C-6F0F-9864-0845-D6A5598A5974}"/>
              </a:ext>
            </a:extLst>
          </p:cNvPr>
          <p:cNvSpPr>
            <a:spLocks noGrp="1"/>
          </p:cNvSpPr>
          <p:nvPr/>
        </p:nvSpPr>
        <p:spPr>
          <a:xfrm>
            <a:off x="451177" y="3050091"/>
            <a:ext cx="5181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00000"/>
              </a:lnSpc>
              <a:spcBef>
                <a:spcPts val="0"/>
              </a:spcBef>
              <a:buFont typeface="Arial,Sans-Serif" panose="020B0604020202020204" pitchFamily="34" charset="0"/>
              <a:buChar char="•"/>
            </a:pPr>
            <a:r>
              <a:rPr lang="sv-SE" sz="2000"/>
              <a:t>Genomgång av </a:t>
            </a:r>
            <a:r>
              <a:rPr lang="sv-SE" sz="2000" err="1"/>
              <a:t>PillMedTech:s</a:t>
            </a:r>
            <a:r>
              <a:rPr lang="sv-SE" sz="2000"/>
              <a:t> informationssäkerhetsmognad</a:t>
            </a:r>
            <a:endParaRPr lang="en-US" sz="2000"/>
          </a:p>
          <a:p>
            <a:pPr>
              <a:lnSpc>
                <a:spcPct val="100000"/>
              </a:lnSpc>
              <a:spcBef>
                <a:spcPts val="0"/>
              </a:spcBef>
              <a:buFont typeface="Arial,Sans-Serif" panose="020B0604020202020204" pitchFamily="34" charset="0"/>
              <a:buChar char="•"/>
            </a:pPr>
            <a:endParaRPr lang="sv-SE" sz="2000"/>
          </a:p>
          <a:p>
            <a:pPr marL="285750" indent="-285750">
              <a:lnSpc>
                <a:spcPct val="100000"/>
              </a:lnSpc>
              <a:spcBef>
                <a:spcPts val="0"/>
              </a:spcBef>
              <a:buFont typeface="Arial,Sans-Serif" panose="020B0604020202020204" pitchFamily="34" charset="0"/>
              <a:buChar char="•"/>
            </a:pPr>
            <a:r>
              <a:rPr lang="sv-SE" sz="2000"/>
              <a:t>Hur ser det ut i dagsläget?</a:t>
            </a:r>
            <a:endParaRPr lang="sv-SE"/>
          </a:p>
          <a:p>
            <a:pPr marL="285750" indent="-285750">
              <a:lnSpc>
                <a:spcPct val="100000"/>
              </a:lnSpc>
              <a:spcBef>
                <a:spcPts val="0"/>
              </a:spcBef>
              <a:buFont typeface="Arial,Sans-Serif" panose="020B0604020202020204" pitchFamily="34" charset="0"/>
              <a:buChar char="•"/>
            </a:pPr>
            <a:endParaRPr lang="sv-SE" sz="2000"/>
          </a:p>
          <a:p>
            <a:pPr marL="285750" indent="-285750">
              <a:lnSpc>
                <a:spcPct val="100000"/>
              </a:lnSpc>
              <a:spcBef>
                <a:spcPts val="0"/>
              </a:spcBef>
              <a:buFont typeface="Arial,Sans-Serif" panose="020B0604020202020204" pitchFamily="34" charset="0"/>
              <a:buChar char="•"/>
            </a:pPr>
            <a:endParaRPr lang="sv-SE" sz="2000"/>
          </a:p>
          <a:p>
            <a:pPr marL="285750" indent="-285750">
              <a:lnSpc>
                <a:spcPct val="100000"/>
              </a:lnSpc>
              <a:spcBef>
                <a:spcPts val="0"/>
              </a:spcBef>
              <a:buFont typeface="Arial,Sans-Serif" panose="020B0604020202020204" pitchFamily="34" charset="0"/>
              <a:buChar char="•"/>
            </a:pPr>
            <a:endParaRPr lang="sv-SE" sz="2000"/>
          </a:p>
          <a:p>
            <a:pPr marL="285750" indent="-285750">
              <a:lnSpc>
                <a:spcPct val="100000"/>
              </a:lnSpc>
              <a:spcBef>
                <a:spcPts val="0"/>
              </a:spcBef>
              <a:buFont typeface="Arial,Sans-Serif" panose="020B0604020202020204" pitchFamily="34" charset="0"/>
              <a:buChar char="•"/>
            </a:pPr>
            <a:endParaRPr lang="sv-SE" sz="2000"/>
          </a:p>
          <a:p>
            <a:pPr>
              <a:buFont typeface="Arial" panose="020B0604020202020204" pitchFamily="34" charset="0"/>
              <a:buChar char="•"/>
            </a:pPr>
            <a:endParaRPr lang="sv-SE" sz="2000"/>
          </a:p>
        </p:txBody>
      </p:sp>
      <p:sp>
        <p:nvSpPr>
          <p:cNvPr id="6" name="Platshållare för innehåll 30">
            <a:extLst>
              <a:ext uri="{FF2B5EF4-FFF2-40B4-BE49-F238E27FC236}">
                <a16:creationId xmlns:a16="http://schemas.microsoft.com/office/drawing/2014/main" id="{C9C654E3-6223-D498-B0E6-F2A45827D009}"/>
              </a:ext>
            </a:extLst>
          </p:cNvPr>
          <p:cNvSpPr>
            <a:spLocks noGrp="1"/>
          </p:cNvSpPr>
          <p:nvPr/>
        </p:nvSpPr>
        <p:spPr>
          <a:xfrm>
            <a:off x="6345767" y="2952245"/>
            <a:ext cx="5181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00000"/>
              </a:lnSpc>
              <a:spcBef>
                <a:spcPts val="0"/>
              </a:spcBef>
              <a:buFont typeface="Arial,Sans-Serif" panose="020B0604020202020204" pitchFamily="34" charset="0"/>
            </a:pPr>
            <a:r>
              <a:rPr lang="sv-SE" sz="2000"/>
              <a:t>Vad är mognadsdialogen</a:t>
            </a:r>
            <a:endParaRPr lang="en-US" sz="2000"/>
          </a:p>
          <a:p>
            <a:pPr marL="285750" indent="-285750">
              <a:lnSpc>
                <a:spcPct val="100000"/>
              </a:lnSpc>
              <a:spcBef>
                <a:spcPts val="0"/>
              </a:spcBef>
              <a:buFont typeface="Arial,Sans-Serif" panose="020B0604020202020204" pitchFamily="34" charset="0"/>
            </a:pPr>
            <a:endParaRPr lang="sv-SE" sz="2000"/>
          </a:p>
          <a:p>
            <a:pPr marL="285750" indent="-285750">
              <a:lnSpc>
                <a:spcPct val="100000"/>
              </a:lnSpc>
              <a:spcBef>
                <a:spcPts val="0"/>
              </a:spcBef>
              <a:buFont typeface="Arial,Sans-Serif" panose="020B0604020202020204" pitchFamily="34" charset="0"/>
            </a:pPr>
            <a:r>
              <a:rPr lang="sv-SE" sz="2000"/>
              <a:t>Mognadsdialogen resultat &amp; motivering</a:t>
            </a:r>
            <a:endParaRPr lang="en-US" sz="2000"/>
          </a:p>
          <a:p>
            <a:pPr marL="285750" indent="-285750">
              <a:lnSpc>
                <a:spcPct val="100000"/>
              </a:lnSpc>
              <a:spcBef>
                <a:spcPts val="0"/>
              </a:spcBef>
              <a:buFont typeface="Arial,Sans-Serif" panose="020B0604020202020204" pitchFamily="34" charset="0"/>
            </a:pPr>
            <a:endParaRPr lang="sv-SE" sz="2000"/>
          </a:p>
          <a:p>
            <a:pPr marL="285750" indent="-285750">
              <a:lnSpc>
                <a:spcPct val="100000"/>
              </a:lnSpc>
              <a:spcBef>
                <a:spcPts val="0"/>
              </a:spcBef>
              <a:buFont typeface="Arial,Sans-Serif" panose="020B0604020202020204" pitchFamily="34" charset="0"/>
            </a:pPr>
            <a:r>
              <a:rPr lang="sv-SE" sz="2000"/>
              <a:t>Vad som görs bra i nuläget</a:t>
            </a:r>
            <a:endParaRPr lang="en-US" sz="2000"/>
          </a:p>
          <a:p>
            <a:pPr marL="285750" indent="-285750">
              <a:lnSpc>
                <a:spcPct val="100000"/>
              </a:lnSpc>
              <a:spcBef>
                <a:spcPts val="0"/>
              </a:spcBef>
              <a:buFont typeface="Arial,Sans-Serif" panose="020B0604020202020204" pitchFamily="34" charset="0"/>
            </a:pPr>
            <a:endParaRPr lang="sv-SE" sz="2000"/>
          </a:p>
          <a:p>
            <a:pPr marL="285750" indent="-285750">
              <a:lnSpc>
                <a:spcPct val="100000"/>
              </a:lnSpc>
              <a:spcBef>
                <a:spcPts val="0"/>
              </a:spcBef>
              <a:buFont typeface="Arial,Sans-Serif" panose="020B0604020202020204" pitchFamily="34" charset="0"/>
            </a:pPr>
            <a:r>
              <a:rPr lang="sv-SE" sz="2000"/>
              <a:t>Förbättringsförslag</a:t>
            </a:r>
          </a:p>
          <a:p>
            <a:pPr marL="285750" indent="-285750">
              <a:lnSpc>
                <a:spcPct val="100000"/>
              </a:lnSpc>
              <a:spcBef>
                <a:spcPts val="0"/>
              </a:spcBef>
              <a:buFont typeface="Arial,Sans-Serif" panose="020B0604020202020204" pitchFamily="34" charset="0"/>
            </a:pPr>
            <a:endParaRPr lang="sv-SE" sz="2000"/>
          </a:p>
          <a:p>
            <a:pPr marL="285750" indent="-285750">
              <a:lnSpc>
                <a:spcPct val="100000"/>
              </a:lnSpc>
              <a:spcBef>
                <a:spcPts val="0"/>
              </a:spcBef>
              <a:buFont typeface="Arial,Sans-Serif" panose="020B0604020202020204" pitchFamily="34" charset="0"/>
            </a:pPr>
            <a:r>
              <a:rPr lang="sv-SE" sz="2000"/>
              <a:t>Affärsnytta</a:t>
            </a:r>
            <a:endParaRPr lang="en-US" sz="2000"/>
          </a:p>
          <a:p>
            <a:pPr marL="285750" indent="-285750">
              <a:lnSpc>
                <a:spcPct val="100000"/>
              </a:lnSpc>
              <a:spcBef>
                <a:spcPts val="0"/>
              </a:spcBef>
              <a:buFont typeface="Arial,Sans-Serif" panose="020B0604020202020204" pitchFamily="34" charset="0"/>
            </a:pPr>
            <a:endParaRPr lang="sv-SE" sz="2000"/>
          </a:p>
          <a:p>
            <a:pPr marL="285750" indent="-285750">
              <a:lnSpc>
                <a:spcPct val="100000"/>
              </a:lnSpc>
              <a:spcBef>
                <a:spcPts val="0"/>
              </a:spcBef>
              <a:buFont typeface="Arial,Sans-Serif" panose="020B0604020202020204" pitchFamily="34" charset="0"/>
            </a:pPr>
            <a:r>
              <a:rPr lang="sv-SE" sz="2000"/>
              <a:t>Hur framtiden ser ut</a:t>
            </a:r>
          </a:p>
          <a:p>
            <a:endParaRPr lang="sv-SE"/>
          </a:p>
        </p:txBody>
      </p:sp>
      <p:sp>
        <p:nvSpPr>
          <p:cNvPr id="7" name="textruta 5">
            <a:extLst>
              <a:ext uri="{FF2B5EF4-FFF2-40B4-BE49-F238E27FC236}">
                <a16:creationId xmlns:a16="http://schemas.microsoft.com/office/drawing/2014/main" id="{A7AD01C4-B6F3-C656-839F-21CD964597E1}"/>
              </a:ext>
            </a:extLst>
          </p:cNvPr>
          <p:cNvSpPr txBox="1"/>
          <p:nvPr/>
        </p:nvSpPr>
        <p:spPr>
          <a:xfrm>
            <a:off x="2018037" y="1920262"/>
            <a:ext cx="3998752" cy="5847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v-SE" sz="3200" b="1" i="1"/>
              <a:t>Syfte</a:t>
            </a:r>
          </a:p>
        </p:txBody>
      </p:sp>
      <p:sp>
        <p:nvSpPr>
          <p:cNvPr id="9" name="textruta 6">
            <a:extLst>
              <a:ext uri="{FF2B5EF4-FFF2-40B4-BE49-F238E27FC236}">
                <a16:creationId xmlns:a16="http://schemas.microsoft.com/office/drawing/2014/main" id="{6ACA77A3-4445-86B7-AA73-6F640B3E5287}"/>
              </a:ext>
            </a:extLst>
          </p:cNvPr>
          <p:cNvSpPr txBox="1"/>
          <p:nvPr/>
        </p:nvSpPr>
        <p:spPr>
          <a:xfrm>
            <a:off x="-1398" y="6501488"/>
            <a:ext cx="2743200" cy="24622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v-SE" sz="1000" b="1" i="1"/>
              <a:t>Alexander, Elijah, Sharmarke, Max och Isac</a:t>
            </a:r>
            <a:endParaRPr lang="sv-SE"/>
          </a:p>
        </p:txBody>
      </p:sp>
      <p:sp>
        <p:nvSpPr>
          <p:cNvPr id="11" name="textruta 3">
            <a:extLst>
              <a:ext uri="{FF2B5EF4-FFF2-40B4-BE49-F238E27FC236}">
                <a16:creationId xmlns:a16="http://schemas.microsoft.com/office/drawing/2014/main" id="{A180CE16-BAB4-BCD0-E5DA-0FEDBA2D92C4}"/>
              </a:ext>
            </a:extLst>
          </p:cNvPr>
          <p:cNvSpPr txBox="1"/>
          <p:nvPr/>
        </p:nvSpPr>
        <p:spPr>
          <a:xfrm>
            <a:off x="7143028" y="1918768"/>
            <a:ext cx="2743200" cy="5847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sv-SE" sz="3200" b="1" i="1"/>
              <a:t>Innehåll</a:t>
            </a:r>
          </a:p>
        </p:txBody>
      </p:sp>
      <p:sp>
        <p:nvSpPr>
          <p:cNvPr id="8" name="Rektangel 7">
            <a:extLst>
              <a:ext uri="{FF2B5EF4-FFF2-40B4-BE49-F238E27FC236}">
                <a16:creationId xmlns:a16="http://schemas.microsoft.com/office/drawing/2014/main" id="{E40BE5B6-879F-1BC0-5565-A62FE8856A2A}"/>
              </a:ext>
            </a:extLst>
          </p:cNvPr>
          <p:cNvSpPr/>
          <p:nvPr/>
        </p:nvSpPr>
        <p:spPr>
          <a:xfrm flipH="1">
            <a:off x="5577854" y="1621890"/>
            <a:ext cx="97724" cy="5456048"/>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 name="Rektangel 12">
            <a:extLst>
              <a:ext uri="{FF2B5EF4-FFF2-40B4-BE49-F238E27FC236}">
                <a16:creationId xmlns:a16="http://schemas.microsoft.com/office/drawing/2014/main" id="{3F7666DA-3A78-B545-D3A2-B68F880FD872}"/>
              </a:ext>
            </a:extLst>
          </p:cNvPr>
          <p:cNvSpPr/>
          <p:nvPr/>
        </p:nvSpPr>
        <p:spPr>
          <a:xfrm rot="5400000" flipH="1">
            <a:off x="5970401" y="-4520294"/>
            <a:ext cx="74633" cy="12337142"/>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540069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42489EB-BF69-A96A-7596-BE2565E25383}"/>
              </a:ext>
            </a:extLst>
          </p:cNvPr>
          <p:cNvSpPr>
            <a:spLocks noGrp="1"/>
          </p:cNvSpPr>
          <p:nvPr>
            <p:ph type="title"/>
          </p:nvPr>
        </p:nvSpPr>
        <p:spPr>
          <a:xfrm>
            <a:off x="6816432" y="360406"/>
            <a:ext cx="4554680" cy="1708243"/>
          </a:xfrm>
        </p:spPr>
        <p:txBody>
          <a:bodyPr vert="horz" lIns="91440" tIns="45720" rIns="91440" bIns="45720" rtlCol="0" anchor="ctr">
            <a:normAutofit/>
          </a:bodyPr>
          <a:lstStyle/>
          <a:p>
            <a:r>
              <a:rPr lang="en-US" sz="3600" kern="1200">
                <a:latin typeface="+mj-lt"/>
                <a:ea typeface="+mj-ea"/>
                <a:cs typeface="+mj-cs"/>
              </a:rPr>
              <a:t>Vad </a:t>
            </a:r>
            <a:r>
              <a:rPr lang="en-US" sz="3600" kern="1200" err="1">
                <a:latin typeface="+mj-lt"/>
                <a:ea typeface="+mj-ea"/>
                <a:cs typeface="+mj-cs"/>
              </a:rPr>
              <a:t>är</a:t>
            </a:r>
            <a:r>
              <a:rPr lang="en-US" sz="3600" kern="1200">
                <a:latin typeface="+mj-lt"/>
                <a:ea typeface="+mj-ea"/>
                <a:cs typeface="+mj-cs"/>
              </a:rPr>
              <a:t> </a:t>
            </a:r>
            <a:r>
              <a:rPr lang="en-US" sz="3600" kern="1200" err="1">
                <a:latin typeface="+mj-lt"/>
                <a:ea typeface="+mj-ea"/>
                <a:cs typeface="+mj-cs"/>
              </a:rPr>
              <a:t>Mognadsdialogen</a:t>
            </a:r>
            <a:endParaRPr lang="en-US" sz="3600" kern="1200">
              <a:latin typeface="+mj-lt"/>
            </a:endParaRPr>
          </a:p>
        </p:txBody>
      </p:sp>
      <p:pic>
        <p:nvPicPr>
          <p:cNvPr id="4" name="Platshållare för innehåll 3" descr="En bild som visar Färggrann, Rektangel, kvadrat, Grafik&#10;&#10;AI-genererat innehåll kan vara felaktigt.">
            <a:extLst>
              <a:ext uri="{FF2B5EF4-FFF2-40B4-BE49-F238E27FC236}">
                <a16:creationId xmlns:a16="http://schemas.microsoft.com/office/drawing/2014/main" id="{8719AF70-64B0-43A0-D369-C212935AB6C5}"/>
              </a:ext>
            </a:extLst>
          </p:cNvPr>
          <p:cNvPicPr>
            <a:picLocks noGrp="1" noChangeAspect="1"/>
          </p:cNvPicPr>
          <p:nvPr>
            <p:ph idx="1"/>
          </p:nvPr>
        </p:nvPicPr>
        <p:blipFill>
          <a:blip r:embed="rId2"/>
          <a:stretch>
            <a:fillRect/>
          </a:stretch>
        </p:blipFill>
        <p:spPr>
          <a:xfrm>
            <a:off x="781962" y="4493007"/>
            <a:ext cx="4541003" cy="2032097"/>
          </a:xfrm>
          <a:prstGeom prst="rect">
            <a:avLst/>
          </a:prstGeom>
        </p:spPr>
      </p:pic>
      <p:sp>
        <p:nvSpPr>
          <p:cNvPr id="7" name="textruta 6">
            <a:extLst>
              <a:ext uri="{FF2B5EF4-FFF2-40B4-BE49-F238E27FC236}">
                <a16:creationId xmlns:a16="http://schemas.microsoft.com/office/drawing/2014/main" id="{FB280198-9DAC-9B68-8C9B-96F7DEC25A2A}"/>
              </a:ext>
            </a:extLst>
          </p:cNvPr>
          <p:cNvSpPr txBox="1"/>
          <p:nvPr/>
        </p:nvSpPr>
        <p:spPr>
          <a:xfrm>
            <a:off x="6816432" y="2068649"/>
            <a:ext cx="4554680" cy="3769835"/>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lnSpcReduction="10000"/>
          </a:bodyPr>
          <a:lstStyle/>
          <a:p>
            <a:pPr marL="285750" indent="-228600">
              <a:lnSpc>
                <a:spcPct val="90000"/>
              </a:lnSpc>
              <a:spcAft>
                <a:spcPts val="600"/>
              </a:spcAft>
              <a:buFont typeface="Arial" panose="020B0604020202020204" pitchFamily="34" charset="0"/>
              <a:buChar char="•"/>
            </a:pPr>
            <a:r>
              <a:rPr lang="en-US" sz="2000" err="1"/>
              <a:t>Verktyg</a:t>
            </a:r>
            <a:r>
              <a:rPr lang="en-US" sz="2000"/>
              <a:t> </a:t>
            </a:r>
            <a:r>
              <a:rPr lang="en-US" sz="2000" err="1"/>
              <a:t>från</a:t>
            </a:r>
            <a:r>
              <a:rPr lang="en-US" sz="2000"/>
              <a:t> MSB</a:t>
            </a:r>
          </a:p>
          <a:p>
            <a:pPr indent="-228600">
              <a:lnSpc>
                <a:spcPct val="90000"/>
              </a:lnSpc>
              <a:spcAft>
                <a:spcPts val="600"/>
              </a:spcAft>
              <a:buFont typeface="Arial" panose="020B0604020202020204" pitchFamily="34" charset="0"/>
              <a:buChar char="•"/>
            </a:pPr>
            <a:endParaRPr lang="en-US" sz="2000"/>
          </a:p>
          <a:p>
            <a:pPr marL="285750" indent="-228600">
              <a:lnSpc>
                <a:spcPct val="90000"/>
              </a:lnSpc>
              <a:spcAft>
                <a:spcPts val="600"/>
              </a:spcAft>
              <a:buFont typeface="Arial" panose="020B0604020202020204" pitchFamily="34" charset="0"/>
              <a:buChar char="•"/>
            </a:pPr>
            <a:r>
              <a:rPr lang="en-US" sz="2000" err="1"/>
              <a:t>Bedömer</a:t>
            </a:r>
            <a:r>
              <a:rPr lang="en-US" sz="2000"/>
              <a:t> </a:t>
            </a:r>
            <a:r>
              <a:rPr lang="en-US" sz="2000" err="1"/>
              <a:t>Mognad</a:t>
            </a:r>
          </a:p>
          <a:p>
            <a:pPr marL="285750" indent="-228600">
              <a:lnSpc>
                <a:spcPct val="90000"/>
              </a:lnSpc>
              <a:spcAft>
                <a:spcPts val="600"/>
              </a:spcAft>
              <a:buFont typeface="Arial" panose="020B0604020202020204" pitchFamily="34" charset="0"/>
              <a:buChar char="•"/>
            </a:pPr>
            <a:endParaRPr lang="en-US" sz="2000"/>
          </a:p>
          <a:p>
            <a:pPr marL="285750" indent="-228600">
              <a:lnSpc>
                <a:spcPct val="90000"/>
              </a:lnSpc>
              <a:spcAft>
                <a:spcPts val="600"/>
              </a:spcAft>
              <a:buFont typeface="Arial" panose="020B0604020202020204" pitchFamily="34" charset="0"/>
              <a:buChar char="•"/>
            </a:pPr>
            <a:r>
              <a:rPr lang="en-US" sz="2000"/>
              <a:t>6 </a:t>
            </a:r>
            <a:r>
              <a:rPr lang="en-US" sz="2000" err="1"/>
              <a:t>kategorier</a:t>
            </a:r>
            <a:endParaRPr lang="en-US" sz="2000"/>
          </a:p>
          <a:p>
            <a:pPr indent="-228600">
              <a:lnSpc>
                <a:spcPct val="90000"/>
              </a:lnSpc>
              <a:spcAft>
                <a:spcPts val="600"/>
              </a:spcAft>
              <a:buFont typeface="Arial" panose="020B0604020202020204" pitchFamily="34" charset="0"/>
              <a:buChar char="•"/>
            </a:pPr>
            <a:endParaRPr lang="en-US" sz="2000"/>
          </a:p>
          <a:p>
            <a:pPr marL="285750" indent="-228600">
              <a:lnSpc>
                <a:spcPct val="90000"/>
              </a:lnSpc>
              <a:spcAft>
                <a:spcPts val="600"/>
              </a:spcAft>
              <a:buFont typeface="Arial" panose="020B0604020202020204" pitchFamily="34" charset="0"/>
              <a:buChar char="•"/>
            </a:pPr>
            <a:r>
              <a:rPr lang="en-US" sz="2000"/>
              <a:t>4 </a:t>
            </a:r>
            <a:r>
              <a:rPr lang="en-US" sz="2000" err="1"/>
              <a:t>Kriterier</a:t>
            </a:r>
            <a:r>
              <a:rPr lang="en-US" sz="2000"/>
              <a:t>  </a:t>
            </a:r>
          </a:p>
          <a:p>
            <a:pPr indent="-228600">
              <a:lnSpc>
                <a:spcPct val="90000"/>
              </a:lnSpc>
              <a:spcAft>
                <a:spcPts val="600"/>
              </a:spcAft>
              <a:buFont typeface="Arial" panose="020B0604020202020204" pitchFamily="34" charset="0"/>
              <a:buChar char="•"/>
            </a:pPr>
            <a:endParaRPr lang="en-US" sz="2000"/>
          </a:p>
          <a:p>
            <a:pPr marL="285750" indent="-228600">
              <a:lnSpc>
                <a:spcPct val="90000"/>
              </a:lnSpc>
              <a:spcAft>
                <a:spcPts val="600"/>
              </a:spcAft>
              <a:buFont typeface="Arial" panose="020B0604020202020204" pitchFamily="34" charset="0"/>
              <a:buChar char="•"/>
            </a:pPr>
            <a:r>
              <a:rPr lang="en-US" sz="2000"/>
              <a:t>Fyra </a:t>
            </a:r>
            <a:r>
              <a:rPr lang="en-US" sz="2000" err="1"/>
              <a:t>olika</a:t>
            </a:r>
            <a:r>
              <a:rPr lang="en-US" sz="2000"/>
              <a:t> </a:t>
            </a:r>
            <a:r>
              <a:rPr lang="en-US" sz="2000" err="1"/>
              <a:t>Nivåer</a:t>
            </a:r>
            <a:endParaRPr lang="en-US" sz="2000"/>
          </a:p>
          <a:p>
            <a:pPr indent="-228600">
              <a:lnSpc>
                <a:spcPct val="90000"/>
              </a:lnSpc>
              <a:spcAft>
                <a:spcPts val="600"/>
              </a:spcAft>
              <a:buFont typeface="Arial" panose="020B0604020202020204" pitchFamily="34" charset="0"/>
              <a:buChar char="•"/>
            </a:pPr>
            <a:endParaRPr lang="en-US" sz="2000"/>
          </a:p>
          <a:p>
            <a:pPr marL="285750" indent="-228600">
              <a:lnSpc>
                <a:spcPct val="90000"/>
              </a:lnSpc>
              <a:spcAft>
                <a:spcPts val="600"/>
              </a:spcAft>
              <a:buFont typeface="Arial" panose="020B0604020202020204" pitchFamily="34" charset="0"/>
              <a:buChar char="•"/>
            </a:pPr>
            <a:r>
              <a:rPr lang="en-US" sz="2000"/>
              <a:t>Grunden till </a:t>
            </a:r>
            <a:r>
              <a:rPr lang="en-US" sz="2000" err="1"/>
              <a:t>Förbättringar</a:t>
            </a:r>
            <a:endParaRPr lang="en-US" sz="2000"/>
          </a:p>
        </p:txBody>
      </p:sp>
      <p:sp>
        <p:nvSpPr>
          <p:cNvPr id="3" name="textruta 2">
            <a:extLst>
              <a:ext uri="{FF2B5EF4-FFF2-40B4-BE49-F238E27FC236}">
                <a16:creationId xmlns:a16="http://schemas.microsoft.com/office/drawing/2014/main" id="{44C6490A-118E-0F5F-06F0-30602DBAA007}"/>
              </a:ext>
            </a:extLst>
          </p:cNvPr>
          <p:cNvSpPr txBox="1"/>
          <p:nvPr/>
        </p:nvSpPr>
        <p:spPr>
          <a:xfrm>
            <a:off x="501315" y="2175710"/>
            <a:ext cx="6136105" cy="42411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sv-SE"/>
          </a:p>
        </p:txBody>
      </p:sp>
      <p:sp>
        <p:nvSpPr>
          <p:cNvPr id="17" name="Flödesschema: Alternativ process 16">
            <a:extLst>
              <a:ext uri="{FF2B5EF4-FFF2-40B4-BE49-F238E27FC236}">
                <a16:creationId xmlns:a16="http://schemas.microsoft.com/office/drawing/2014/main" id="{A6D7B572-F04C-B4B7-F918-8913CCE30C75}"/>
              </a:ext>
            </a:extLst>
          </p:cNvPr>
          <p:cNvSpPr/>
          <p:nvPr/>
        </p:nvSpPr>
        <p:spPr>
          <a:xfrm>
            <a:off x="823783" y="2852350"/>
            <a:ext cx="4448432" cy="1328351"/>
          </a:xfrm>
          <a:prstGeom prst="flowChartAlternateProcess">
            <a:avLst/>
          </a:prstGeom>
          <a:solidFill>
            <a:schemeClr val="accent1">
              <a:lumMod val="60000"/>
              <a:lumOff val="40000"/>
            </a:schemeClr>
          </a:solidFill>
          <a:ln>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textruta 11">
            <a:extLst>
              <a:ext uri="{FF2B5EF4-FFF2-40B4-BE49-F238E27FC236}">
                <a16:creationId xmlns:a16="http://schemas.microsoft.com/office/drawing/2014/main" id="{A6B1233F-69F3-AB36-D7FE-7E094069C3BA}"/>
              </a:ext>
            </a:extLst>
          </p:cNvPr>
          <p:cNvSpPr txBox="1"/>
          <p:nvPr/>
        </p:nvSpPr>
        <p:spPr>
          <a:xfrm>
            <a:off x="1013548" y="3058297"/>
            <a:ext cx="18638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sv-SE"/>
              <a:t>Arbetssätt</a:t>
            </a:r>
          </a:p>
        </p:txBody>
      </p:sp>
      <p:sp>
        <p:nvSpPr>
          <p:cNvPr id="13" name="textruta 12">
            <a:extLst>
              <a:ext uri="{FF2B5EF4-FFF2-40B4-BE49-F238E27FC236}">
                <a16:creationId xmlns:a16="http://schemas.microsoft.com/office/drawing/2014/main" id="{1B2F4EE1-EA65-7792-3FE7-3649C5D2C660}"/>
              </a:ext>
            </a:extLst>
          </p:cNvPr>
          <p:cNvSpPr txBox="1"/>
          <p:nvPr/>
        </p:nvSpPr>
        <p:spPr>
          <a:xfrm>
            <a:off x="2405743" y="3056238"/>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a:t>Tillämpning</a:t>
            </a:r>
          </a:p>
        </p:txBody>
      </p:sp>
      <p:sp>
        <p:nvSpPr>
          <p:cNvPr id="14" name="textruta 13">
            <a:extLst>
              <a:ext uri="{FF2B5EF4-FFF2-40B4-BE49-F238E27FC236}">
                <a16:creationId xmlns:a16="http://schemas.microsoft.com/office/drawing/2014/main" id="{888324DF-047F-B50F-711A-01BB4F336B7B}"/>
              </a:ext>
            </a:extLst>
          </p:cNvPr>
          <p:cNvSpPr txBox="1"/>
          <p:nvPr/>
        </p:nvSpPr>
        <p:spPr>
          <a:xfrm>
            <a:off x="3952102" y="3056238"/>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a:t>Resultat</a:t>
            </a:r>
          </a:p>
        </p:txBody>
      </p:sp>
      <p:sp>
        <p:nvSpPr>
          <p:cNvPr id="15" name="textruta 14">
            <a:extLst>
              <a:ext uri="{FF2B5EF4-FFF2-40B4-BE49-F238E27FC236}">
                <a16:creationId xmlns:a16="http://schemas.microsoft.com/office/drawing/2014/main" id="{A5AE4A1F-8835-2843-F47C-5910F132026B}"/>
              </a:ext>
            </a:extLst>
          </p:cNvPr>
          <p:cNvSpPr txBox="1"/>
          <p:nvPr/>
        </p:nvSpPr>
        <p:spPr>
          <a:xfrm>
            <a:off x="1600200" y="3583827"/>
            <a:ext cx="29088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a:t>Följa upp, lära &amp; förbättra</a:t>
            </a:r>
          </a:p>
        </p:txBody>
      </p:sp>
      <p:sp>
        <p:nvSpPr>
          <p:cNvPr id="20" name="Flödesschema: Alternativ process 19">
            <a:extLst>
              <a:ext uri="{FF2B5EF4-FFF2-40B4-BE49-F238E27FC236}">
                <a16:creationId xmlns:a16="http://schemas.microsoft.com/office/drawing/2014/main" id="{531746D1-C7BC-3205-4977-CA1C262D5CE9}"/>
              </a:ext>
            </a:extLst>
          </p:cNvPr>
          <p:cNvSpPr/>
          <p:nvPr/>
        </p:nvSpPr>
        <p:spPr>
          <a:xfrm>
            <a:off x="823784" y="1122404"/>
            <a:ext cx="2049161" cy="597242"/>
          </a:xfrm>
          <a:prstGeom prst="flowChartAlternateProcess">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sz="1600"/>
              <a:t>Incidenthantering</a:t>
            </a:r>
          </a:p>
        </p:txBody>
      </p:sp>
      <p:sp>
        <p:nvSpPr>
          <p:cNvPr id="25" name="Flödesschema: Alternativ process 24">
            <a:extLst>
              <a:ext uri="{FF2B5EF4-FFF2-40B4-BE49-F238E27FC236}">
                <a16:creationId xmlns:a16="http://schemas.microsoft.com/office/drawing/2014/main" id="{2D59ECBB-5467-9DA3-A991-865A583C5D74}"/>
              </a:ext>
            </a:extLst>
          </p:cNvPr>
          <p:cNvSpPr/>
          <p:nvPr/>
        </p:nvSpPr>
        <p:spPr>
          <a:xfrm>
            <a:off x="823784" y="360404"/>
            <a:ext cx="2049161" cy="597242"/>
          </a:xfrm>
          <a:prstGeom prst="flowChartAlternateProcess">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a:t>Riskhantering</a:t>
            </a:r>
          </a:p>
        </p:txBody>
      </p:sp>
      <p:sp>
        <p:nvSpPr>
          <p:cNvPr id="26" name="Flödesschema: Alternativ process 25">
            <a:extLst>
              <a:ext uri="{FF2B5EF4-FFF2-40B4-BE49-F238E27FC236}">
                <a16:creationId xmlns:a16="http://schemas.microsoft.com/office/drawing/2014/main" id="{C181C5F8-7B99-3BD8-76BF-10705B2315CB}"/>
              </a:ext>
            </a:extLst>
          </p:cNvPr>
          <p:cNvSpPr/>
          <p:nvPr/>
        </p:nvSpPr>
        <p:spPr>
          <a:xfrm>
            <a:off x="3223054" y="360404"/>
            <a:ext cx="2049161" cy="597242"/>
          </a:xfrm>
          <a:prstGeom prst="flowChartAlternateProcess">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a:t>Infoklassning</a:t>
            </a:r>
          </a:p>
        </p:txBody>
      </p:sp>
      <p:sp>
        <p:nvSpPr>
          <p:cNvPr id="27" name="Flödesschema: Alternativ process 26">
            <a:extLst>
              <a:ext uri="{FF2B5EF4-FFF2-40B4-BE49-F238E27FC236}">
                <a16:creationId xmlns:a16="http://schemas.microsoft.com/office/drawing/2014/main" id="{21AF63AE-3F87-D56F-70B2-8E485255236C}"/>
              </a:ext>
            </a:extLst>
          </p:cNvPr>
          <p:cNvSpPr/>
          <p:nvPr/>
        </p:nvSpPr>
        <p:spPr>
          <a:xfrm>
            <a:off x="3223054" y="1122403"/>
            <a:ext cx="2049161" cy="597242"/>
          </a:xfrm>
          <a:prstGeom prst="flowChartAlternateProcess">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a:t>Uppföljning</a:t>
            </a:r>
          </a:p>
        </p:txBody>
      </p:sp>
      <p:sp>
        <p:nvSpPr>
          <p:cNvPr id="29" name="Flödesschema: Alternativ process 28">
            <a:extLst>
              <a:ext uri="{FF2B5EF4-FFF2-40B4-BE49-F238E27FC236}">
                <a16:creationId xmlns:a16="http://schemas.microsoft.com/office/drawing/2014/main" id="{3299DFA8-3C38-267C-FEB5-41B1E7ACAC89}"/>
              </a:ext>
            </a:extLst>
          </p:cNvPr>
          <p:cNvSpPr/>
          <p:nvPr/>
        </p:nvSpPr>
        <p:spPr>
          <a:xfrm>
            <a:off x="823783" y="1874107"/>
            <a:ext cx="2049161" cy="597242"/>
          </a:xfrm>
          <a:prstGeom prst="flowChartAlternateProcess">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a:t>Kompetens</a:t>
            </a:r>
          </a:p>
        </p:txBody>
      </p:sp>
      <p:sp>
        <p:nvSpPr>
          <p:cNvPr id="31" name="Flödesschema: Alternativ process 30">
            <a:extLst>
              <a:ext uri="{FF2B5EF4-FFF2-40B4-BE49-F238E27FC236}">
                <a16:creationId xmlns:a16="http://schemas.microsoft.com/office/drawing/2014/main" id="{6A544224-F67E-B48C-EFB7-07CC818C62DB}"/>
              </a:ext>
            </a:extLst>
          </p:cNvPr>
          <p:cNvSpPr/>
          <p:nvPr/>
        </p:nvSpPr>
        <p:spPr>
          <a:xfrm>
            <a:off x="3223053" y="1874106"/>
            <a:ext cx="2049161" cy="597242"/>
          </a:xfrm>
          <a:prstGeom prst="flowChartAlternateProcess">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sv-SE"/>
              <a:t>Upphandling</a:t>
            </a:r>
          </a:p>
        </p:txBody>
      </p:sp>
      <p:sp>
        <p:nvSpPr>
          <p:cNvPr id="5" name="textruta 4">
            <a:extLst>
              <a:ext uri="{FF2B5EF4-FFF2-40B4-BE49-F238E27FC236}">
                <a16:creationId xmlns:a16="http://schemas.microsoft.com/office/drawing/2014/main" id="{07537291-50AB-C075-0429-2C19032CC392}"/>
              </a:ext>
            </a:extLst>
          </p:cNvPr>
          <p:cNvSpPr txBox="1"/>
          <p:nvPr/>
        </p:nvSpPr>
        <p:spPr>
          <a:xfrm>
            <a:off x="877646" y="6054170"/>
            <a:ext cx="43450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a:t> </a:t>
            </a:r>
            <a:r>
              <a:rPr lang="sv-SE" sz="1400"/>
              <a:t>   Nivå 1             Nivå 2             Nivå 3             Nivå 4</a:t>
            </a:r>
          </a:p>
        </p:txBody>
      </p:sp>
      <p:sp>
        <p:nvSpPr>
          <p:cNvPr id="6" name="textruta 5">
            <a:extLst>
              <a:ext uri="{FF2B5EF4-FFF2-40B4-BE49-F238E27FC236}">
                <a16:creationId xmlns:a16="http://schemas.microsoft.com/office/drawing/2014/main" id="{4E3AE186-5820-5EE0-CF28-46C7035676FA}"/>
              </a:ext>
            </a:extLst>
          </p:cNvPr>
          <p:cNvSpPr txBox="1"/>
          <p:nvPr/>
        </p:nvSpPr>
        <p:spPr>
          <a:xfrm>
            <a:off x="1018309" y="5717308"/>
            <a:ext cx="4255654" cy="2539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1050"/>
              <a:t> Reaktivt            </a:t>
            </a:r>
            <a:r>
              <a:rPr lang="sv-SE" sz="900"/>
              <a:t>Viss Systematik</a:t>
            </a:r>
            <a:r>
              <a:rPr lang="sv-SE" sz="1050"/>
              <a:t>        </a:t>
            </a:r>
            <a:r>
              <a:rPr lang="sv-SE" sz="900"/>
              <a:t>Förbättringsdriv </a:t>
            </a:r>
            <a:r>
              <a:rPr lang="sv-SE" sz="1050"/>
              <a:t>          Proaktivt​</a:t>
            </a:r>
          </a:p>
        </p:txBody>
      </p:sp>
    </p:spTree>
    <p:extLst>
      <p:ext uri="{BB962C8B-B14F-4D97-AF65-F5344CB8AC3E}">
        <p14:creationId xmlns:p14="http://schemas.microsoft.com/office/powerpoint/2010/main" val="809036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ubrik 2"/>
          <p:cNvSpPr>
            <a:spLocks noGrp="1"/>
          </p:cNvSpPr>
          <p:nvPr>
            <p:ph type="title"/>
          </p:nvPr>
        </p:nvSpPr>
        <p:spPr>
          <a:xfrm>
            <a:off x="452284" y="319548"/>
            <a:ext cx="11343216" cy="915138"/>
          </a:xfrm>
        </p:spPr>
        <p:txBody>
          <a:bodyPr>
            <a:noAutofit/>
          </a:bodyPr>
          <a:lstStyle/>
          <a:p>
            <a:r>
              <a:rPr lang="sv-SE" sz="4400" err="1"/>
              <a:t>PillMedTech:s</a:t>
            </a:r>
            <a:r>
              <a:rPr lang="sv-SE" sz="4400"/>
              <a:t> Mognad</a:t>
            </a:r>
            <a:endParaRPr lang="sv-SE"/>
          </a:p>
        </p:txBody>
      </p:sp>
      <p:graphicFrame>
        <p:nvGraphicFramePr>
          <p:cNvPr id="5" name="Platshållare för innehåll 4"/>
          <p:cNvGraphicFramePr>
            <a:graphicFrameLocks noGrp="1"/>
          </p:cNvGraphicFramePr>
          <p:nvPr>
            <p:ph idx="4294967295"/>
            <p:extLst>
              <p:ext uri="{D42A27DB-BD31-4B8C-83A1-F6EECF244321}">
                <p14:modId xmlns:p14="http://schemas.microsoft.com/office/powerpoint/2010/main" val="1005151050"/>
              </p:ext>
            </p:extLst>
          </p:nvPr>
        </p:nvGraphicFramePr>
        <p:xfrm>
          <a:off x="1457739" y="1669429"/>
          <a:ext cx="8978508" cy="4998481"/>
        </p:xfrm>
        <a:graphic>
          <a:graphicData uri="http://schemas.openxmlformats.org/drawingml/2006/table">
            <a:tbl>
              <a:tblPr firstRow="1" bandRow="1">
                <a:tableStyleId>{5940675A-B579-460E-94D1-54222C63F5DA}</a:tableStyleId>
              </a:tblPr>
              <a:tblGrid>
                <a:gridCol w="1282644">
                  <a:extLst>
                    <a:ext uri="{9D8B030D-6E8A-4147-A177-3AD203B41FA5}">
                      <a16:colId xmlns:a16="http://schemas.microsoft.com/office/drawing/2014/main" val="3178722643"/>
                    </a:ext>
                  </a:extLst>
                </a:gridCol>
                <a:gridCol w="1282644">
                  <a:extLst>
                    <a:ext uri="{9D8B030D-6E8A-4147-A177-3AD203B41FA5}">
                      <a16:colId xmlns:a16="http://schemas.microsoft.com/office/drawing/2014/main" val="442287585"/>
                    </a:ext>
                  </a:extLst>
                </a:gridCol>
                <a:gridCol w="1282644">
                  <a:extLst>
                    <a:ext uri="{9D8B030D-6E8A-4147-A177-3AD203B41FA5}">
                      <a16:colId xmlns:a16="http://schemas.microsoft.com/office/drawing/2014/main" val="378512077"/>
                    </a:ext>
                  </a:extLst>
                </a:gridCol>
                <a:gridCol w="1282644">
                  <a:extLst>
                    <a:ext uri="{9D8B030D-6E8A-4147-A177-3AD203B41FA5}">
                      <a16:colId xmlns:a16="http://schemas.microsoft.com/office/drawing/2014/main" val="3040306001"/>
                    </a:ext>
                  </a:extLst>
                </a:gridCol>
                <a:gridCol w="1282644">
                  <a:extLst>
                    <a:ext uri="{9D8B030D-6E8A-4147-A177-3AD203B41FA5}">
                      <a16:colId xmlns:a16="http://schemas.microsoft.com/office/drawing/2014/main" val="2441235584"/>
                    </a:ext>
                  </a:extLst>
                </a:gridCol>
                <a:gridCol w="1282644">
                  <a:extLst>
                    <a:ext uri="{9D8B030D-6E8A-4147-A177-3AD203B41FA5}">
                      <a16:colId xmlns:a16="http://schemas.microsoft.com/office/drawing/2014/main" val="3353776641"/>
                    </a:ext>
                  </a:extLst>
                </a:gridCol>
                <a:gridCol w="1282644">
                  <a:extLst>
                    <a:ext uri="{9D8B030D-6E8A-4147-A177-3AD203B41FA5}">
                      <a16:colId xmlns:a16="http://schemas.microsoft.com/office/drawing/2014/main" val="353751490"/>
                    </a:ext>
                  </a:extLst>
                </a:gridCol>
              </a:tblGrid>
              <a:tr h="972906">
                <a:tc>
                  <a:txBody>
                    <a:bodyPr/>
                    <a:lstStyle/>
                    <a:p>
                      <a:pPr algn="ctr"/>
                      <a:r>
                        <a:rPr lang="sv-SE"/>
                        <a:t>Nivå</a:t>
                      </a:r>
                      <a:r>
                        <a:rPr lang="sv-SE" baseline="0"/>
                        <a:t> 4</a:t>
                      </a:r>
                      <a:endParaRPr lang="sv-SE"/>
                    </a:p>
                  </a:txBody>
                  <a:tcPr anchor="ctr">
                    <a:solidFill>
                      <a:srgbClr val="41B496"/>
                    </a:solidFill>
                  </a:tcPr>
                </a:tc>
                <a:tc>
                  <a:txBody>
                    <a:bodyPr/>
                    <a:lstStyle/>
                    <a:p>
                      <a:endParaRPr lang="sv-SE"/>
                    </a:p>
                  </a:txBody>
                  <a:tcPr/>
                </a:tc>
                <a:tc>
                  <a:txBody>
                    <a:bodyPr/>
                    <a:lstStyle/>
                    <a:p>
                      <a:endParaRPr lang="sv-SE"/>
                    </a:p>
                  </a:txBody>
                  <a:tcPr/>
                </a:tc>
                <a:tc>
                  <a:txBody>
                    <a:bodyPr/>
                    <a:lstStyle/>
                    <a:p>
                      <a:endParaRPr lang="sv-SE"/>
                    </a:p>
                  </a:txBody>
                  <a:tcPr/>
                </a:tc>
                <a:tc>
                  <a:txBody>
                    <a:bodyPr/>
                    <a:lstStyle/>
                    <a:p>
                      <a:endParaRPr lang="sv-SE"/>
                    </a:p>
                  </a:txBody>
                  <a:tcPr/>
                </a:tc>
                <a:tc>
                  <a:txBody>
                    <a:bodyPr/>
                    <a:lstStyle/>
                    <a:p>
                      <a:endParaRPr lang="sv-SE"/>
                    </a:p>
                  </a:txBody>
                  <a:tcPr/>
                </a:tc>
                <a:tc>
                  <a:txBody>
                    <a:bodyPr/>
                    <a:lstStyle/>
                    <a:p>
                      <a:endParaRPr lang="sv-SE"/>
                    </a:p>
                  </a:txBody>
                  <a:tcPr/>
                </a:tc>
                <a:extLst>
                  <a:ext uri="{0D108BD9-81ED-4DB2-BD59-A6C34878D82A}">
                    <a16:rowId xmlns:a16="http://schemas.microsoft.com/office/drawing/2014/main" val="216914593"/>
                  </a:ext>
                </a:extLst>
              </a:tr>
              <a:tr h="972906">
                <a:tc>
                  <a:txBody>
                    <a:bodyPr/>
                    <a:lstStyle/>
                    <a:p>
                      <a:pPr algn="ctr"/>
                      <a:r>
                        <a:rPr lang="sv-SE"/>
                        <a:t>Nivå</a:t>
                      </a:r>
                      <a:r>
                        <a:rPr lang="sv-SE" baseline="0"/>
                        <a:t> 3</a:t>
                      </a:r>
                      <a:endParaRPr lang="sv-SE"/>
                    </a:p>
                  </a:txBody>
                  <a:tcPr anchor="ctr">
                    <a:solidFill>
                      <a:srgbClr val="FFCD46"/>
                    </a:solidFill>
                  </a:tcPr>
                </a:tc>
                <a:tc>
                  <a:txBody>
                    <a:bodyPr/>
                    <a:lstStyle/>
                    <a:p>
                      <a:pPr lvl="0">
                        <a:buNone/>
                      </a:pPr>
                      <a:endParaRPr lang="sv-SE"/>
                    </a:p>
                  </a:txBody>
                  <a:tcPr/>
                </a:tc>
                <a:tc>
                  <a:txBody>
                    <a:bodyPr/>
                    <a:lstStyle/>
                    <a:p>
                      <a:endParaRPr lang="sv-SE"/>
                    </a:p>
                  </a:txBody>
                  <a:tcPr>
                    <a:noFill/>
                  </a:tcPr>
                </a:tc>
                <a:tc>
                  <a:txBody>
                    <a:bodyPr/>
                    <a:lstStyle/>
                    <a:p>
                      <a:endParaRPr lang="sv-SE"/>
                    </a:p>
                  </a:txBody>
                  <a:tcPr/>
                </a:tc>
                <a:tc>
                  <a:txBody>
                    <a:bodyPr/>
                    <a:lstStyle/>
                    <a:p>
                      <a:endParaRPr lang="sv-SE"/>
                    </a:p>
                  </a:txBody>
                  <a:tcPr/>
                </a:tc>
                <a:tc>
                  <a:txBody>
                    <a:bodyPr/>
                    <a:lstStyle/>
                    <a:p>
                      <a:endParaRPr lang="sv-SE"/>
                    </a:p>
                  </a:txBody>
                  <a:tcPr/>
                </a:tc>
                <a:tc>
                  <a:txBody>
                    <a:bodyPr/>
                    <a:lstStyle/>
                    <a:p>
                      <a:endParaRPr lang="sv-SE"/>
                    </a:p>
                  </a:txBody>
                  <a:tcPr/>
                </a:tc>
                <a:extLst>
                  <a:ext uri="{0D108BD9-81ED-4DB2-BD59-A6C34878D82A}">
                    <a16:rowId xmlns:a16="http://schemas.microsoft.com/office/drawing/2014/main" val="4043835155"/>
                  </a:ext>
                </a:extLst>
              </a:tr>
              <a:tr h="972906">
                <a:tc>
                  <a:txBody>
                    <a:bodyPr/>
                    <a:lstStyle/>
                    <a:p>
                      <a:pPr algn="ctr"/>
                      <a:r>
                        <a:rPr lang="sv-SE"/>
                        <a:t>Nivå</a:t>
                      </a:r>
                      <a:r>
                        <a:rPr lang="sv-SE" baseline="0"/>
                        <a:t> 2</a:t>
                      </a:r>
                      <a:endParaRPr lang="sv-SE">
                        <a:solidFill>
                          <a:schemeClr val="accent2">
                            <a:lumMod val="76000"/>
                          </a:schemeClr>
                        </a:solidFill>
                      </a:endParaRPr>
                    </a:p>
                  </a:txBody>
                  <a:tcPr anchor="ctr">
                    <a:solidFill>
                      <a:srgbClr val="ED7D31"/>
                    </a:solidFill>
                  </a:tcPr>
                </a:tc>
                <a:tc>
                  <a:txBody>
                    <a:bodyPr/>
                    <a:lstStyle/>
                    <a:p>
                      <a:endParaRPr lang="sv-SE"/>
                    </a:p>
                  </a:txBody>
                  <a:tcPr/>
                </a:tc>
                <a:tc>
                  <a:txBody>
                    <a:bodyPr/>
                    <a:lstStyle/>
                    <a:p>
                      <a:endParaRPr lang="sv-SE"/>
                    </a:p>
                  </a:txBody>
                  <a:tcPr>
                    <a:noFill/>
                  </a:tcPr>
                </a:tc>
                <a:tc>
                  <a:txBody>
                    <a:bodyPr/>
                    <a:lstStyle/>
                    <a:p>
                      <a:endParaRPr lang="sv-SE"/>
                    </a:p>
                  </a:txBody>
                  <a:tcPr>
                    <a:noFill/>
                  </a:tcPr>
                </a:tc>
                <a:tc>
                  <a:txBody>
                    <a:bodyPr/>
                    <a:lstStyle/>
                    <a:p>
                      <a:endParaRPr lang="sv-SE"/>
                    </a:p>
                  </a:txBody>
                  <a:tcPr/>
                </a:tc>
                <a:tc>
                  <a:txBody>
                    <a:bodyPr/>
                    <a:lstStyle/>
                    <a:p>
                      <a:endParaRPr lang="sv-SE"/>
                    </a:p>
                  </a:txBody>
                  <a:tcPr>
                    <a:noFill/>
                  </a:tcPr>
                </a:tc>
                <a:tc>
                  <a:txBody>
                    <a:bodyPr/>
                    <a:lstStyle/>
                    <a:p>
                      <a:endParaRPr lang="sv-SE"/>
                    </a:p>
                  </a:txBody>
                  <a:tcPr>
                    <a:noFill/>
                  </a:tcPr>
                </a:tc>
                <a:extLst>
                  <a:ext uri="{0D108BD9-81ED-4DB2-BD59-A6C34878D82A}">
                    <a16:rowId xmlns:a16="http://schemas.microsoft.com/office/drawing/2014/main" val="1186138261"/>
                  </a:ext>
                </a:extLst>
              </a:tr>
              <a:tr h="972906">
                <a:tc>
                  <a:txBody>
                    <a:bodyPr/>
                    <a:lstStyle/>
                    <a:p>
                      <a:pPr algn="ctr"/>
                      <a:r>
                        <a:rPr lang="sv-SE">
                          <a:solidFill>
                            <a:schemeClr val="tx1"/>
                          </a:solidFill>
                        </a:rPr>
                        <a:t>Nivå</a:t>
                      </a:r>
                      <a:r>
                        <a:rPr lang="sv-SE" baseline="0">
                          <a:solidFill>
                            <a:schemeClr val="tx1"/>
                          </a:solidFill>
                        </a:rPr>
                        <a:t> 1</a:t>
                      </a:r>
                      <a:endParaRPr lang="sv-SE">
                        <a:solidFill>
                          <a:schemeClr val="tx1"/>
                        </a:solidFill>
                      </a:endParaRPr>
                    </a:p>
                  </a:txBody>
                  <a:tcPr anchor="ctr">
                    <a:lnB w="12700" cap="flat" cmpd="sng" algn="ctr">
                      <a:solidFill>
                        <a:schemeClr val="tx1"/>
                      </a:solidFill>
                      <a:prstDash val="solid"/>
                      <a:round/>
                      <a:headEnd type="none" w="med" len="med"/>
                      <a:tailEnd type="none" w="med" len="med"/>
                    </a:lnB>
                    <a:solidFill>
                      <a:srgbClr val="CC0000"/>
                    </a:solidFill>
                  </a:tcPr>
                </a:tc>
                <a:tc>
                  <a:txBody>
                    <a:bodyPr/>
                    <a:lstStyle/>
                    <a:p>
                      <a:endParaRPr lang="sv-SE">
                        <a:solidFill>
                          <a:srgbClr val="FF0000"/>
                        </a:solidFill>
                      </a:endParaRPr>
                    </a:p>
                  </a:txBody>
                  <a:tcPr>
                    <a:lnB w="12700" cap="flat" cmpd="sng" algn="ctr">
                      <a:solidFill>
                        <a:schemeClr val="tx1"/>
                      </a:solidFill>
                      <a:prstDash val="solid"/>
                      <a:round/>
                      <a:headEnd type="none" w="med" len="med"/>
                      <a:tailEnd type="none" w="med" len="med"/>
                    </a:lnB>
                    <a:solidFill>
                      <a:srgbClr val="C00000"/>
                    </a:solidFill>
                  </a:tcPr>
                </a:tc>
                <a:tc>
                  <a:txBody>
                    <a:bodyPr/>
                    <a:lstStyle/>
                    <a:p>
                      <a:endParaRPr lang="sv-SE"/>
                    </a:p>
                  </a:txBody>
                  <a:tcPr>
                    <a:lnB w="12700" cap="flat" cmpd="sng" algn="ctr">
                      <a:solidFill>
                        <a:schemeClr val="tx1"/>
                      </a:solidFill>
                      <a:prstDash val="solid"/>
                      <a:round/>
                      <a:headEnd type="none" w="med" len="med"/>
                      <a:tailEnd type="none" w="med" len="med"/>
                    </a:lnB>
                    <a:solidFill>
                      <a:srgbClr val="C00000"/>
                    </a:solidFill>
                  </a:tcPr>
                </a:tc>
                <a:tc>
                  <a:txBody>
                    <a:bodyPr/>
                    <a:lstStyle/>
                    <a:p>
                      <a:endParaRPr lang="sv-SE"/>
                    </a:p>
                  </a:txBody>
                  <a:tcPr>
                    <a:lnB w="12700" cap="flat" cmpd="sng" algn="ctr">
                      <a:solidFill>
                        <a:schemeClr val="tx1"/>
                      </a:solidFill>
                      <a:prstDash val="solid"/>
                      <a:round/>
                      <a:headEnd type="none" w="med" len="med"/>
                      <a:tailEnd type="none" w="med" len="med"/>
                    </a:lnB>
                    <a:solidFill>
                      <a:srgbClr val="C00000"/>
                    </a:solidFill>
                  </a:tcPr>
                </a:tc>
                <a:tc>
                  <a:txBody>
                    <a:bodyPr/>
                    <a:lstStyle/>
                    <a:p>
                      <a:endParaRPr lang="sv-SE"/>
                    </a:p>
                  </a:txBody>
                  <a:tcPr>
                    <a:lnB w="12700" cap="flat" cmpd="sng" algn="ctr">
                      <a:solidFill>
                        <a:schemeClr val="tx1"/>
                      </a:solidFill>
                      <a:prstDash val="solid"/>
                      <a:round/>
                      <a:headEnd type="none" w="med" len="med"/>
                      <a:tailEnd type="none" w="med" len="med"/>
                    </a:lnB>
                    <a:solidFill>
                      <a:srgbClr val="C00000"/>
                    </a:solidFill>
                  </a:tcPr>
                </a:tc>
                <a:tc>
                  <a:txBody>
                    <a:bodyPr/>
                    <a:lstStyle/>
                    <a:p>
                      <a:endParaRPr lang="sv-SE"/>
                    </a:p>
                  </a:txBody>
                  <a:tcPr>
                    <a:lnB w="12700" cap="flat" cmpd="sng" algn="ctr">
                      <a:solidFill>
                        <a:schemeClr val="tx1"/>
                      </a:solidFill>
                      <a:prstDash val="solid"/>
                      <a:round/>
                      <a:headEnd type="none" w="med" len="med"/>
                      <a:tailEnd type="none" w="med" len="med"/>
                    </a:lnB>
                    <a:solidFill>
                      <a:srgbClr val="C00000"/>
                    </a:solidFill>
                  </a:tcPr>
                </a:tc>
                <a:tc>
                  <a:txBody>
                    <a:bodyPr/>
                    <a:lstStyle/>
                    <a:p>
                      <a:endParaRPr lang="sv-SE"/>
                    </a:p>
                  </a:txBody>
                  <a:tcPr>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3516600129"/>
                  </a:ext>
                </a:extLst>
              </a:tr>
              <a:tr h="1106857">
                <a:tc>
                  <a:txBody>
                    <a:bodyPr/>
                    <a:lstStyle/>
                    <a:p>
                      <a:pPr algn="ctr"/>
                      <a:endParaRPr lang="sv-SE" sz="1400" b="1"/>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sv-SE" sz="1600" b="1">
                          <a:solidFill>
                            <a:schemeClr val="tx1"/>
                          </a:solidFill>
                        </a:rPr>
                        <a:t>Risk-hantering</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2">
                        <a:lumMod val="90000"/>
                      </a:schemeClr>
                    </a:solidFill>
                  </a:tcPr>
                </a:tc>
                <a:tc>
                  <a:txBody>
                    <a:bodyPr/>
                    <a:lstStyle/>
                    <a:p>
                      <a:pPr algn="ctr"/>
                      <a:r>
                        <a:rPr lang="sv-SE" sz="1600" b="1">
                          <a:solidFill>
                            <a:schemeClr val="tx1"/>
                          </a:solidFill>
                        </a:rPr>
                        <a:t>Info-klassning</a:t>
                      </a:r>
                    </a:p>
                  </a:txBody>
                  <a:tcPr anchor="ctr">
                    <a:lnT w="12700" cap="flat" cmpd="sng" algn="ctr">
                      <a:solidFill>
                        <a:schemeClr val="tx1"/>
                      </a:solidFill>
                      <a:prstDash val="solid"/>
                      <a:round/>
                      <a:headEnd type="none" w="med" len="med"/>
                      <a:tailEnd type="none" w="med" len="med"/>
                    </a:lnT>
                    <a:solidFill>
                      <a:schemeClr val="bg2">
                        <a:lumMod val="90000"/>
                      </a:schemeClr>
                    </a:solidFill>
                  </a:tcPr>
                </a:tc>
                <a:tc>
                  <a:txBody>
                    <a:bodyPr/>
                    <a:lstStyle/>
                    <a:p>
                      <a:pPr algn="ctr"/>
                      <a:r>
                        <a:rPr lang="sv-SE" sz="1600" b="1">
                          <a:solidFill>
                            <a:schemeClr val="tx1"/>
                          </a:solidFill>
                        </a:rPr>
                        <a:t>Incident-hantering</a:t>
                      </a:r>
                    </a:p>
                  </a:txBody>
                  <a:tcPr anchor="ctr">
                    <a:lnT w="12700" cap="flat" cmpd="sng" algn="ctr">
                      <a:solidFill>
                        <a:schemeClr val="tx1"/>
                      </a:solidFill>
                      <a:prstDash val="solid"/>
                      <a:round/>
                      <a:headEnd type="none" w="med" len="med"/>
                      <a:tailEnd type="none" w="med" len="med"/>
                    </a:lnT>
                    <a:solidFill>
                      <a:schemeClr val="bg2">
                        <a:lumMod val="90000"/>
                      </a:schemeClr>
                    </a:solidFill>
                  </a:tcPr>
                </a:tc>
                <a:tc>
                  <a:txBody>
                    <a:bodyPr/>
                    <a:lstStyle/>
                    <a:p>
                      <a:pPr algn="ctr"/>
                      <a:r>
                        <a:rPr lang="sv-SE" sz="1600" b="1">
                          <a:solidFill>
                            <a:schemeClr val="tx1"/>
                          </a:solidFill>
                        </a:rPr>
                        <a:t>Upp-handling</a:t>
                      </a:r>
                    </a:p>
                  </a:txBody>
                  <a:tcPr anchor="ctr">
                    <a:lnT w="12700" cap="flat" cmpd="sng" algn="ctr">
                      <a:solidFill>
                        <a:schemeClr val="tx1"/>
                      </a:solidFill>
                      <a:prstDash val="solid"/>
                      <a:round/>
                      <a:headEnd type="none" w="med" len="med"/>
                      <a:tailEnd type="none" w="med" len="med"/>
                    </a:lnT>
                    <a:solidFill>
                      <a:schemeClr val="bg2">
                        <a:lumMod val="90000"/>
                      </a:schemeClr>
                    </a:solidFill>
                  </a:tcPr>
                </a:tc>
                <a:tc>
                  <a:txBody>
                    <a:bodyPr/>
                    <a:lstStyle/>
                    <a:p>
                      <a:pPr algn="ctr"/>
                      <a:r>
                        <a:rPr lang="sv-SE" sz="1400" b="1">
                          <a:solidFill>
                            <a:schemeClr val="tx1"/>
                          </a:solidFill>
                        </a:rPr>
                        <a:t>Kompetens</a:t>
                      </a:r>
                    </a:p>
                  </a:txBody>
                  <a:tcPr anchor="ctr">
                    <a:lnT w="12700" cap="flat" cmpd="sng" algn="ctr">
                      <a:solidFill>
                        <a:schemeClr val="tx1"/>
                      </a:solidFill>
                      <a:prstDash val="solid"/>
                      <a:round/>
                      <a:headEnd type="none" w="med" len="med"/>
                      <a:tailEnd type="none" w="med" len="med"/>
                    </a:lnT>
                    <a:solidFill>
                      <a:schemeClr val="bg2">
                        <a:lumMod val="90000"/>
                      </a:schemeClr>
                    </a:solidFill>
                  </a:tcPr>
                </a:tc>
                <a:tc>
                  <a:txBody>
                    <a:bodyPr/>
                    <a:lstStyle/>
                    <a:p>
                      <a:pPr algn="ctr"/>
                      <a:r>
                        <a:rPr lang="sv-SE" sz="1400" b="1">
                          <a:solidFill>
                            <a:schemeClr val="tx1"/>
                          </a:solidFill>
                        </a:rPr>
                        <a:t>Uppföljning</a:t>
                      </a:r>
                    </a:p>
                  </a:txBody>
                  <a:tcPr anchor="ctr">
                    <a:lnT w="12700" cap="flat" cmpd="sng" algn="ctr">
                      <a:solidFill>
                        <a:schemeClr val="tx1"/>
                      </a:solidFill>
                      <a:prstDash val="solid"/>
                      <a:round/>
                      <a:headEnd type="none" w="med" len="med"/>
                      <a:tailEnd type="none" w="med" len="med"/>
                    </a:lnT>
                    <a:solidFill>
                      <a:schemeClr val="bg2">
                        <a:lumMod val="90000"/>
                      </a:schemeClr>
                    </a:solidFill>
                  </a:tcPr>
                </a:tc>
                <a:extLst>
                  <a:ext uri="{0D108BD9-81ED-4DB2-BD59-A6C34878D82A}">
                    <a16:rowId xmlns:a16="http://schemas.microsoft.com/office/drawing/2014/main" val="2669108424"/>
                  </a:ext>
                </a:extLst>
              </a:tr>
            </a:tbl>
          </a:graphicData>
        </a:graphic>
      </p:graphicFrame>
      <p:sp>
        <p:nvSpPr>
          <p:cNvPr id="8" name="textruta 7">
            <a:extLst>
              <a:ext uri="{FF2B5EF4-FFF2-40B4-BE49-F238E27FC236}">
                <a16:creationId xmlns:a16="http://schemas.microsoft.com/office/drawing/2014/main" id="{F6E4E37F-C12B-2873-F325-F93336E7360D}"/>
              </a:ext>
            </a:extLst>
          </p:cNvPr>
          <p:cNvSpPr txBox="1"/>
          <p:nvPr/>
        </p:nvSpPr>
        <p:spPr>
          <a:xfrm>
            <a:off x="1456590" y="2287255"/>
            <a:ext cx="126609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1200"/>
              <a:t>Proaktiva</a:t>
            </a:r>
          </a:p>
        </p:txBody>
      </p:sp>
      <p:sp>
        <p:nvSpPr>
          <p:cNvPr id="10" name="textruta 9">
            <a:extLst>
              <a:ext uri="{FF2B5EF4-FFF2-40B4-BE49-F238E27FC236}">
                <a16:creationId xmlns:a16="http://schemas.microsoft.com/office/drawing/2014/main" id="{C84491B9-4974-218A-2439-D306B4784A9E}"/>
              </a:ext>
            </a:extLst>
          </p:cNvPr>
          <p:cNvSpPr txBox="1"/>
          <p:nvPr/>
        </p:nvSpPr>
        <p:spPr>
          <a:xfrm>
            <a:off x="1422678" y="3284136"/>
            <a:ext cx="1340619" cy="2878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1200"/>
              <a:t>Förbättringsdriv</a:t>
            </a:r>
          </a:p>
        </p:txBody>
      </p:sp>
      <p:sp>
        <p:nvSpPr>
          <p:cNvPr id="11" name="textruta 10">
            <a:extLst>
              <a:ext uri="{FF2B5EF4-FFF2-40B4-BE49-F238E27FC236}">
                <a16:creationId xmlns:a16="http://schemas.microsoft.com/office/drawing/2014/main" id="{767BE543-E4FA-B93F-B848-B474F6025BDB}"/>
              </a:ext>
            </a:extLst>
          </p:cNvPr>
          <p:cNvSpPr txBox="1"/>
          <p:nvPr/>
        </p:nvSpPr>
        <p:spPr>
          <a:xfrm>
            <a:off x="1488830" y="4173415"/>
            <a:ext cx="123092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1200"/>
              <a:t>Viss Systematik</a:t>
            </a:r>
          </a:p>
        </p:txBody>
      </p:sp>
      <p:sp>
        <p:nvSpPr>
          <p:cNvPr id="12" name="textruta 11">
            <a:extLst>
              <a:ext uri="{FF2B5EF4-FFF2-40B4-BE49-F238E27FC236}">
                <a16:creationId xmlns:a16="http://schemas.microsoft.com/office/drawing/2014/main" id="{2BD5A78E-8C2A-2B50-7627-89D6A8368B18}"/>
              </a:ext>
            </a:extLst>
          </p:cNvPr>
          <p:cNvSpPr txBox="1"/>
          <p:nvPr/>
        </p:nvSpPr>
        <p:spPr>
          <a:xfrm>
            <a:off x="1642067" y="5220118"/>
            <a:ext cx="87923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1200"/>
              <a:t>Reaktiva</a:t>
            </a:r>
          </a:p>
        </p:txBody>
      </p:sp>
    </p:spTree>
    <p:extLst>
      <p:ext uri="{BB962C8B-B14F-4D97-AF65-F5344CB8AC3E}">
        <p14:creationId xmlns:p14="http://schemas.microsoft.com/office/powerpoint/2010/main" val="3142335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97A17FB-44C9-BBE8-C544-68DBDE4E3B2A}"/>
              </a:ext>
            </a:extLst>
          </p:cNvPr>
          <p:cNvSpPr>
            <a:spLocks noGrp="1"/>
          </p:cNvSpPr>
          <p:nvPr>
            <p:ph type="title"/>
          </p:nvPr>
        </p:nvSpPr>
        <p:spPr>
          <a:xfrm>
            <a:off x="2181225" y="3175"/>
            <a:ext cx="10515600" cy="1325563"/>
          </a:xfrm>
        </p:spPr>
        <p:txBody>
          <a:bodyPr>
            <a:normAutofit/>
          </a:bodyPr>
          <a:lstStyle/>
          <a:p>
            <a:r>
              <a:rPr lang="sv-SE" sz="2400"/>
              <a:t>                                                                  </a:t>
            </a:r>
          </a:p>
        </p:txBody>
      </p:sp>
      <p:sp>
        <p:nvSpPr>
          <p:cNvPr id="3" name="Platshållare för innehåll 2">
            <a:extLst>
              <a:ext uri="{FF2B5EF4-FFF2-40B4-BE49-F238E27FC236}">
                <a16:creationId xmlns:a16="http://schemas.microsoft.com/office/drawing/2014/main" id="{B145508C-8437-550C-AC5C-A8FAA94ABFEC}"/>
              </a:ext>
            </a:extLst>
          </p:cNvPr>
          <p:cNvSpPr>
            <a:spLocks noGrp="1"/>
          </p:cNvSpPr>
          <p:nvPr>
            <p:ph idx="1"/>
          </p:nvPr>
        </p:nvSpPr>
        <p:spPr/>
        <p:txBody>
          <a:bodyPr vert="horz" lIns="91440" tIns="45720" rIns="91440" bIns="45720" rtlCol="0" anchor="t">
            <a:normAutofit/>
          </a:bodyPr>
          <a:lstStyle/>
          <a:p>
            <a:pPr>
              <a:buFont typeface="Calibri" panose="020B0604020202020204" pitchFamily="34" charset="0"/>
              <a:buChar char="-"/>
            </a:pPr>
            <a:endParaRPr lang="sv-SE"/>
          </a:p>
          <a:p>
            <a:pPr>
              <a:buFont typeface="Calibri" panose="020B0604020202020204" pitchFamily="34" charset="0"/>
              <a:buChar char="-"/>
            </a:pPr>
            <a:endParaRPr lang="sv-SE"/>
          </a:p>
          <a:p>
            <a:pPr>
              <a:buFont typeface="Calibri" panose="020B0604020202020204" pitchFamily="34" charset="0"/>
              <a:buChar char="-"/>
            </a:pPr>
            <a:endParaRPr lang="sv-SE"/>
          </a:p>
          <a:p>
            <a:pPr>
              <a:buFont typeface="Calibri" panose="020B0604020202020204" pitchFamily="34" charset="0"/>
              <a:buChar char="-"/>
            </a:pPr>
            <a:endParaRPr lang="sv-SE"/>
          </a:p>
          <a:p>
            <a:pPr>
              <a:buFont typeface="Calibri" panose="020B0604020202020204" pitchFamily="34" charset="0"/>
              <a:buChar char="-"/>
            </a:pPr>
            <a:endParaRPr lang="sv-SE"/>
          </a:p>
        </p:txBody>
      </p:sp>
      <p:pic>
        <p:nvPicPr>
          <p:cNvPr id="6" name="Bildobjekt 5" descr="En bild som visar text, skärmbild, Teckensnitt, dokument&#10;&#10;AI-genererat innehåll kan vara felaktigt.">
            <a:extLst>
              <a:ext uri="{FF2B5EF4-FFF2-40B4-BE49-F238E27FC236}">
                <a16:creationId xmlns:a16="http://schemas.microsoft.com/office/drawing/2014/main" id="{CCB47FA1-23A8-4695-518E-DD51A4F76E14}"/>
              </a:ext>
            </a:extLst>
          </p:cNvPr>
          <p:cNvPicPr>
            <a:picLocks noChangeAspect="1"/>
          </p:cNvPicPr>
          <p:nvPr/>
        </p:nvPicPr>
        <p:blipFill>
          <a:blip r:embed="rId2"/>
          <a:stretch>
            <a:fillRect/>
          </a:stretch>
        </p:blipFill>
        <p:spPr>
          <a:xfrm>
            <a:off x="2184042" y="1622810"/>
            <a:ext cx="3474388" cy="3256011"/>
          </a:xfrm>
          <a:prstGeom prst="rect">
            <a:avLst/>
          </a:prstGeom>
        </p:spPr>
      </p:pic>
      <p:sp>
        <p:nvSpPr>
          <p:cNvPr id="7" name="textruta 6">
            <a:extLst>
              <a:ext uri="{FF2B5EF4-FFF2-40B4-BE49-F238E27FC236}">
                <a16:creationId xmlns:a16="http://schemas.microsoft.com/office/drawing/2014/main" id="{44095F53-DD3E-A827-345F-171BC94C10D4}"/>
              </a:ext>
            </a:extLst>
          </p:cNvPr>
          <p:cNvSpPr txBox="1"/>
          <p:nvPr/>
        </p:nvSpPr>
        <p:spPr>
          <a:xfrm>
            <a:off x="118090" y="1162877"/>
            <a:ext cx="1983462" cy="59093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sv-SE" sz="1200"/>
              <a:t>Arbetssätt </a:t>
            </a:r>
            <a:r>
              <a:rPr lang="sv-SE" sz="1200">
                <a:solidFill>
                  <a:srgbClr val="FF0000"/>
                </a:solidFill>
              </a:rPr>
              <a:t>Nivå 1</a:t>
            </a:r>
            <a:r>
              <a:rPr lang="sv-SE" sz="1200"/>
              <a:t>: Saknar arbetssätt för riskhantering, ingen aktiv bedömning, analys, övervakning inom risk. </a:t>
            </a:r>
          </a:p>
          <a:p>
            <a:pPr marL="285750" indent="-285750">
              <a:buFont typeface="Arial"/>
              <a:buChar char="•"/>
            </a:pPr>
            <a:endParaRPr lang="sv-SE" sz="1200"/>
          </a:p>
          <a:p>
            <a:pPr marL="285750" indent="-285750">
              <a:buFont typeface="Arial"/>
              <a:buChar char="•"/>
            </a:pPr>
            <a:r>
              <a:rPr lang="sv-SE" sz="1200"/>
              <a:t>Tillämpning </a:t>
            </a:r>
            <a:r>
              <a:rPr lang="sv-SE" sz="1200">
                <a:solidFill>
                  <a:srgbClr val="FF0000"/>
                </a:solidFill>
              </a:rPr>
              <a:t>Nivå 1</a:t>
            </a:r>
            <a:r>
              <a:rPr lang="sv-SE" sz="1200"/>
              <a:t>: Ingen gemensam metod/rutin för rapportering. </a:t>
            </a:r>
          </a:p>
          <a:p>
            <a:pPr marL="285750" indent="-285750">
              <a:buFont typeface="Arial"/>
              <a:buChar char="•"/>
            </a:pPr>
            <a:endParaRPr lang="sv-SE" sz="1200"/>
          </a:p>
          <a:p>
            <a:pPr marL="285750" indent="-285750">
              <a:buFont typeface="Arial"/>
              <a:buChar char="•"/>
            </a:pPr>
            <a:r>
              <a:rPr lang="sv-SE" sz="1200"/>
              <a:t>Resultat </a:t>
            </a:r>
            <a:r>
              <a:rPr lang="sv-SE" sz="1200">
                <a:solidFill>
                  <a:srgbClr val="FF0000"/>
                </a:solidFill>
              </a:rPr>
              <a:t>Nivå 1</a:t>
            </a:r>
            <a:r>
              <a:rPr lang="sv-SE" sz="1200"/>
              <a:t>: Enstaka mål utan insamling av resultat. </a:t>
            </a:r>
          </a:p>
          <a:p>
            <a:pPr marL="285750" indent="-285750">
              <a:buFont typeface="Arial"/>
              <a:buChar char="•"/>
            </a:pPr>
            <a:endParaRPr lang="sv-SE" sz="1200"/>
          </a:p>
          <a:p>
            <a:pPr marL="285750" indent="-285750">
              <a:buFont typeface="Arial"/>
              <a:buChar char="•"/>
            </a:pPr>
            <a:r>
              <a:rPr lang="sv-SE" sz="1200"/>
              <a:t>Följa upp lära &amp; förbättra </a:t>
            </a:r>
            <a:r>
              <a:rPr lang="sv-SE" sz="1200">
                <a:solidFill>
                  <a:srgbClr val="FF0000"/>
                </a:solidFill>
              </a:rPr>
              <a:t>Nivå 1</a:t>
            </a:r>
            <a:r>
              <a:rPr lang="sv-SE" sz="1200"/>
              <a:t>: </a:t>
            </a:r>
            <a:r>
              <a:rPr lang="sv-SE" sz="1200">
                <a:ea typeface="+mn-lt"/>
                <a:cs typeface="+mn-lt"/>
              </a:rPr>
              <a:t> Brist på riskhantering har identifierats av Göran Rubens.</a:t>
            </a:r>
            <a:endParaRPr lang="sv-SE" sz="1200"/>
          </a:p>
          <a:p>
            <a:pPr marL="742950" lvl="1" indent="-285750">
              <a:buFont typeface="Calibri"/>
              <a:buChar char="-"/>
            </a:pPr>
            <a:endParaRPr lang="sv-SE"/>
          </a:p>
          <a:p>
            <a:endParaRPr lang="sv-SE"/>
          </a:p>
          <a:p>
            <a:pPr marL="285750" indent="-285750">
              <a:buFont typeface="Arial"/>
              <a:buChar char="•"/>
            </a:pPr>
            <a:endParaRPr lang="sv-SE"/>
          </a:p>
          <a:p>
            <a:endParaRPr lang="sv-SE"/>
          </a:p>
          <a:p>
            <a:pPr lvl="1"/>
            <a:endParaRPr lang="sv-SE"/>
          </a:p>
          <a:p>
            <a:pPr marL="742950" lvl="1" indent="-285750">
              <a:buFont typeface="Calibri"/>
              <a:buChar char="-"/>
            </a:pPr>
            <a:endParaRPr lang="sv-SE"/>
          </a:p>
          <a:p>
            <a:pPr marL="742950" lvl="1" indent="-285750">
              <a:buFont typeface="Calibri"/>
              <a:buChar char="-"/>
            </a:pPr>
            <a:endParaRPr lang="sv-SE"/>
          </a:p>
        </p:txBody>
      </p:sp>
      <p:sp>
        <p:nvSpPr>
          <p:cNvPr id="8" name="Pil: höger 7">
            <a:extLst>
              <a:ext uri="{FF2B5EF4-FFF2-40B4-BE49-F238E27FC236}">
                <a16:creationId xmlns:a16="http://schemas.microsoft.com/office/drawing/2014/main" id="{9890E919-6CB9-A31C-C8AC-B14BA2292792}"/>
              </a:ext>
            </a:extLst>
          </p:cNvPr>
          <p:cNvSpPr/>
          <p:nvPr/>
        </p:nvSpPr>
        <p:spPr>
          <a:xfrm rot="5400000">
            <a:off x="2829172" y="1165114"/>
            <a:ext cx="438527" cy="1851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9" name="Platshållare för innehåll 3" descr="En bild som visar text, skärmbild, Teckensnitt, dokument&#10;&#10;AI-genererat innehåll kan vara felaktigt.">
            <a:extLst>
              <a:ext uri="{FF2B5EF4-FFF2-40B4-BE49-F238E27FC236}">
                <a16:creationId xmlns:a16="http://schemas.microsoft.com/office/drawing/2014/main" id="{32183A69-CD1F-93B6-DF48-C81BDF4101DB}"/>
              </a:ext>
            </a:extLst>
          </p:cNvPr>
          <p:cNvPicPr>
            <a:picLocks noChangeAspect="1"/>
          </p:cNvPicPr>
          <p:nvPr/>
        </p:nvPicPr>
        <p:blipFill>
          <a:blip r:embed="rId3"/>
          <a:stretch>
            <a:fillRect/>
          </a:stretch>
        </p:blipFill>
        <p:spPr>
          <a:xfrm>
            <a:off x="8192699" y="1664221"/>
            <a:ext cx="3730025" cy="3172313"/>
          </a:xfrm>
          <a:prstGeom prst="rect">
            <a:avLst/>
          </a:prstGeom>
        </p:spPr>
      </p:pic>
      <p:sp>
        <p:nvSpPr>
          <p:cNvPr id="13" name="textruta 12">
            <a:extLst>
              <a:ext uri="{FF2B5EF4-FFF2-40B4-BE49-F238E27FC236}">
                <a16:creationId xmlns:a16="http://schemas.microsoft.com/office/drawing/2014/main" id="{01493662-112C-3ADE-D38D-43438FA6A2D5}"/>
              </a:ext>
            </a:extLst>
          </p:cNvPr>
          <p:cNvSpPr txBox="1"/>
          <p:nvPr/>
        </p:nvSpPr>
        <p:spPr>
          <a:xfrm>
            <a:off x="6303233" y="1264507"/>
            <a:ext cx="1968070" cy="49859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sv-SE" sz="1200"/>
              <a:t>Arbetssätt </a:t>
            </a:r>
            <a:r>
              <a:rPr lang="sv-SE" sz="1200">
                <a:solidFill>
                  <a:srgbClr val="FF0000"/>
                </a:solidFill>
              </a:rPr>
              <a:t>Nivå 1</a:t>
            </a:r>
            <a:r>
              <a:rPr lang="sv-SE" sz="1200"/>
              <a:t>: Inga tydliga arbetssätt för rapportera eller hantera tidigare incidenter</a:t>
            </a:r>
          </a:p>
          <a:p>
            <a:pPr marL="285750" indent="-285750">
              <a:buFont typeface="Arial,Sans-Serif"/>
              <a:buChar char="•"/>
            </a:pPr>
            <a:endParaRPr lang="sv-SE" sz="1200"/>
          </a:p>
          <a:p>
            <a:pPr marL="285750" indent="-285750">
              <a:buFont typeface="Arial,Sans-Serif"/>
              <a:buChar char="•"/>
            </a:pPr>
            <a:r>
              <a:rPr lang="sv-SE" sz="1200"/>
              <a:t>Tillämpning </a:t>
            </a:r>
            <a:r>
              <a:rPr lang="sv-SE" sz="1200">
                <a:solidFill>
                  <a:srgbClr val="FFC000"/>
                </a:solidFill>
              </a:rPr>
              <a:t>Nivå 2</a:t>
            </a:r>
            <a:r>
              <a:rPr lang="sv-SE" sz="1200"/>
              <a:t>: Viktiga rapporteras inte alltid &amp; analys när det har hänt. </a:t>
            </a:r>
            <a:endParaRPr lang="en-US" sz="1200"/>
          </a:p>
          <a:p>
            <a:pPr marL="285750" indent="-285750">
              <a:buFont typeface="Arial,Sans-Serif"/>
              <a:buChar char="•"/>
            </a:pPr>
            <a:endParaRPr lang="sv-SE" sz="1200"/>
          </a:p>
          <a:p>
            <a:pPr marL="285750" indent="-285750">
              <a:buFont typeface="Arial,Sans-Serif"/>
              <a:buChar char="•"/>
            </a:pPr>
            <a:r>
              <a:rPr lang="sv-SE" sz="1200"/>
              <a:t>Resultat </a:t>
            </a:r>
            <a:r>
              <a:rPr lang="sv-SE" sz="1200">
                <a:solidFill>
                  <a:srgbClr val="FF0000"/>
                </a:solidFill>
              </a:rPr>
              <a:t>Nivå 1</a:t>
            </a:r>
            <a:r>
              <a:rPr lang="sv-SE" sz="1200"/>
              <a:t>: Svag koppling med att incidenter har skett och minskad risk för upprepning.</a:t>
            </a:r>
          </a:p>
          <a:p>
            <a:pPr marL="285750" indent="-285750">
              <a:buFont typeface="Arial,Sans-Serif"/>
              <a:buChar char="•"/>
            </a:pPr>
            <a:endParaRPr lang="sv-SE" sz="1200"/>
          </a:p>
          <a:p>
            <a:pPr marL="285750" indent="-285750">
              <a:buFont typeface="Arial,Sans-Serif"/>
              <a:buChar char="•"/>
            </a:pPr>
            <a:r>
              <a:rPr lang="sv-SE" sz="1200"/>
              <a:t>Följa upp lära &amp; förbättra </a:t>
            </a:r>
            <a:r>
              <a:rPr lang="sv-SE" sz="1200">
                <a:solidFill>
                  <a:srgbClr val="FF0000"/>
                </a:solidFill>
              </a:rPr>
              <a:t>Nivå 1</a:t>
            </a:r>
            <a:r>
              <a:rPr lang="sv-SE" sz="1200"/>
              <a:t>: Utreder inte incidenter, löser snabbt och tar in konsulter utan att säkra en permanent förbättring.</a:t>
            </a:r>
            <a:endParaRPr lang="en-US" sz="1200"/>
          </a:p>
          <a:p>
            <a:pPr algn="l"/>
            <a:endParaRPr lang="sv-SE"/>
          </a:p>
        </p:txBody>
      </p:sp>
      <p:sp>
        <p:nvSpPr>
          <p:cNvPr id="14" name="Pil: höger 13">
            <a:extLst>
              <a:ext uri="{FF2B5EF4-FFF2-40B4-BE49-F238E27FC236}">
                <a16:creationId xmlns:a16="http://schemas.microsoft.com/office/drawing/2014/main" id="{4F15AB09-CE2C-538C-AA5B-01B302017876}"/>
              </a:ext>
            </a:extLst>
          </p:cNvPr>
          <p:cNvSpPr/>
          <p:nvPr/>
        </p:nvSpPr>
        <p:spPr>
          <a:xfrm rot="5400000">
            <a:off x="9556356" y="1165114"/>
            <a:ext cx="438527" cy="1851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6" name="Rak pilkoppling 15">
            <a:extLst>
              <a:ext uri="{FF2B5EF4-FFF2-40B4-BE49-F238E27FC236}">
                <a16:creationId xmlns:a16="http://schemas.microsoft.com/office/drawing/2014/main" id="{1BD56BD9-6ECF-7042-989E-00C321D1C2D1}"/>
              </a:ext>
            </a:extLst>
          </p:cNvPr>
          <p:cNvCxnSpPr/>
          <p:nvPr/>
        </p:nvCxnSpPr>
        <p:spPr>
          <a:xfrm flipH="1">
            <a:off x="6095999" y="-209550"/>
            <a:ext cx="9525" cy="7419974"/>
          </a:xfrm>
          <a:prstGeom prst="straightConnector1">
            <a:avLst/>
          </a:prstGeom>
          <a:ln>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1" name="textruta 20">
            <a:extLst>
              <a:ext uri="{FF2B5EF4-FFF2-40B4-BE49-F238E27FC236}">
                <a16:creationId xmlns:a16="http://schemas.microsoft.com/office/drawing/2014/main" id="{8174DA4F-AB64-BA88-4F80-670A266CC54D}"/>
              </a:ext>
            </a:extLst>
          </p:cNvPr>
          <p:cNvSpPr txBox="1"/>
          <p:nvPr/>
        </p:nvSpPr>
        <p:spPr>
          <a:xfrm>
            <a:off x="1325810" y="216715"/>
            <a:ext cx="3250733" cy="461665"/>
          </a:xfrm>
          <a:prstGeom prst="rect">
            <a:avLst/>
          </a:prstGeom>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2400"/>
              <a:t>Riskhantering</a:t>
            </a:r>
            <a:endParaRPr lang="sv-SE"/>
          </a:p>
        </p:txBody>
      </p:sp>
      <p:sp>
        <p:nvSpPr>
          <p:cNvPr id="22" name="textruta 21">
            <a:extLst>
              <a:ext uri="{FF2B5EF4-FFF2-40B4-BE49-F238E27FC236}">
                <a16:creationId xmlns:a16="http://schemas.microsoft.com/office/drawing/2014/main" id="{3C48F9E3-0ECA-AF69-CEFF-F224A1EC6E43}"/>
              </a:ext>
            </a:extLst>
          </p:cNvPr>
          <p:cNvSpPr txBox="1"/>
          <p:nvPr/>
        </p:nvSpPr>
        <p:spPr>
          <a:xfrm>
            <a:off x="7561510" y="216715"/>
            <a:ext cx="3250733" cy="461665"/>
          </a:xfrm>
          <a:prstGeom prst="rect">
            <a:avLst/>
          </a:prstGeom>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2400"/>
              <a:t>Incidenthantering</a:t>
            </a:r>
          </a:p>
        </p:txBody>
      </p:sp>
    </p:spTree>
    <p:extLst>
      <p:ext uri="{BB962C8B-B14F-4D97-AF65-F5344CB8AC3E}">
        <p14:creationId xmlns:p14="http://schemas.microsoft.com/office/powerpoint/2010/main" val="2178825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1BDBFCAF-0CE3-D0AE-1A53-8E8A6105243C}"/>
              </a:ext>
            </a:extLst>
          </p:cNvPr>
          <p:cNvSpPr>
            <a:spLocks noGrp="1"/>
          </p:cNvSpPr>
          <p:nvPr>
            <p:ph type="title"/>
          </p:nvPr>
        </p:nvSpPr>
        <p:spPr>
          <a:xfrm>
            <a:off x="838200" y="85725"/>
            <a:ext cx="10515600" cy="1325563"/>
          </a:xfrm>
        </p:spPr>
        <p:txBody>
          <a:bodyPr>
            <a:normAutofit/>
          </a:bodyPr>
          <a:lstStyle/>
          <a:p>
            <a:r>
              <a:rPr lang="sv-SE" sz="2400"/>
              <a:t>              </a:t>
            </a:r>
          </a:p>
        </p:txBody>
      </p:sp>
      <p:pic>
        <p:nvPicPr>
          <p:cNvPr id="4" name="Platshållare för innehåll 3" descr="En bild som visar text, skärmbild, Teckensnitt, dokument&#10;&#10;AI-genererat innehåll kan vara felaktigt.">
            <a:extLst>
              <a:ext uri="{FF2B5EF4-FFF2-40B4-BE49-F238E27FC236}">
                <a16:creationId xmlns:a16="http://schemas.microsoft.com/office/drawing/2014/main" id="{90873DAF-2CCE-2AA1-122C-4B3555FC922E}"/>
              </a:ext>
            </a:extLst>
          </p:cNvPr>
          <p:cNvPicPr>
            <a:picLocks noGrp="1" noChangeAspect="1"/>
          </p:cNvPicPr>
          <p:nvPr>
            <p:ph idx="1"/>
          </p:nvPr>
        </p:nvPicPr>
        <p:blipFill>
          <a:blip r:embed="rId2"/>
          <a:stretch>
            <a:fillRect/>
          </a:stretch>
        </p:blipFill>
        <p:spPr>
          <a:xfrm>
            <a:off x="2114150" y="2188096"/>
            <a:ext cx="3381804" cy="3175613"/>
          </a:xfrm>
          <a:prstGeom prst="rect">
            <a:avLst/>
          </a:prstGeom>
        </p:spPr>
      </p:pic>
      <p:sp>
        <p:nvSpPr>
          <p:cNvPr id="6" name="Pil: höger 5">
            <a:extLst>
              <a:ext uri="{FF2B5EF4-FFF2-40B4-BE49-F238E27FC236}">
                <a16:creationId xmlns:a16="http://schemas.microsoft.com/office/drawing/2014/main" id="{31FC4EAD-2359-3B2C-D234-B183ED9A84CA}"/>
              </a:ext>
            </a:extLst>
          </p:cNvPr>
          <p:cNvSpPr/>
          <p:nvPr/>
        </p:nvSpPr>
        <p:spPr>
          <a:xfrm rot="5400000">
            <a:off x="3235953" y="1693186"/>
            <a:ext cx="514727" cy="1755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textruta 7">
            <a:extLst>
              <a:ext uri="{FF2B5EF4-FFF2-40B4-BE49-F238E27FC236}">
                <a16:creationId xmlns:a16="http://schemas.microsoft.com/office/drawing/2014/main" id="{53DF79ED-0C0D-635D-5484-EFDD44B7800F}"/>
              </a:ext>
            </a:extLst>
          </p:cNvPr>
          <p:cNvSpPr txBox="1"/>
          <p:nvPr/>
        </p:nvSpPr>
        <p:spPr>
          <a:xfrm>
            <a:off x="236899" y="1409699"/>
            <a:ext cx="1611611"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sv-SE" sz="1200"/>
              <a:t>Arbetssätt </a:t>
            </a:r>
            <a:r>
              <a:rPr lang="sv-SE" sz="1200">
                <a:solidFill>
                  <a:srgbClr val="FF0000"/>
                </a:solidFill>
              </a:rPr>
              <a:t>Nivå 1</a:t>
            </a:r>
            <a:r>
              <a:rPr lang="sv-SE" sz="1200"/>
              <a:t>: Har inga medvetet valda arbetssätt för </a:t>
            </a:r>
            <a:r>
              <a:rPr lang="sv-SE" sz="1200" err="1"/>
              <a:t>klassifiering</a:t>
            </a:r>
            <a:r>
              <a:rPr lang="sv-SE" sz="1200"/>
              <a:t> av information</a:t>
            </a:r>
          </a:p>
          <a:p>
            <a:pPr marL="285750" indent="-285750">
              <a:buFont typeface="Arial"/>
              <a:buChar char="•"/>
            </a:pPr>
            <a:endParaRPr lang="sv-SE" sz="1200"/>
          </a:p>
          <a:p>
            <a:pPr marL="285750" indent="-285750">
              <a:buFont typeface="Arial,Sans-Serif"/>
              <a:buChar char="•"/>
            </a:pPr>
            <a:r>
              <a:rPr lang="sv-SE" sz="1200"/>
              <a:t>Tillämpa </a:t>
            </a:r>
            <a:r>
              <a:rPr lang="sv-SE" sz="1200">
                <a:solidFill>
                  <a:srgbClr val="FFC000"/>
                </a:solidFill>
              </a:rPr>
              <a:t>Nivå 2</a:t>
            </a:r>
            <a:r>
              <a:rPr lang="sv-SE" sz="1200"/>
              <a:t>: Implementerat säkerhetsnycklar </a:t>
            </a:r>
          </a:p>
          <a:p>
            <a:pPr marL="285750" indent="-285750">
              <a:buFont typeface="Arial"/>
              <a:buChar char="•"/>
            </a:pPr>
            <a:endParaRPr lang="sv-SE" sz="1200"/>
          </a:p>
          <a:p>
            <a:pPr marL="285750" indent="-285750">
              <a:buFont typeface="Arial"/>
              <a:buChar char="•"/>
            </a:pPr>
            <a:r>
              <a:rPr lang="sv-SE" sz="1200"/>
              <a:t>Resultat </a:t>
            </a:r>
            <a:r>
              <a:rPr lang="sv-SE" sz="1200">
                <a:solidFill>
                  <a:srgbClr val="FF0000"/>
                </a:solidFill>
              </a:rPr>
              <a:t>Nivå 1</a:t>
            </a:r>
            <a:r>
              <a:rPr lang="sv-SE" sz="1200"/>
              <a:t>: Identifieras för lite och arbetar inte med resultaten som samlats in. </a:t>
            </a:r>
          </a:p>
          <a:p>
            <a:pPr marL="285750" indent="-285750">
              <a:buFont typeface="Arial"/>
              <a:buChar char="•"/>
            </a:pPr>
            <a:endParaRPr lang="sv-SE" sz="1200"/>
          </a:p>
          <a:p>
            <a:pPr marL="285750" indent="-285750">
              <a:buFont typeface="Arial"/>
              <a:buChar char="•"/>
            </a:pPr>
            <a:r>
              <a:rPr lang="sv-SE" sz="1200"/>
              <a:t>Följa upp lära &amp; förbättra </a:t>
            </a:r>
            <a:r>
              <a:rPr lang="sv-SE" sz="1200">
                <a:solidFill>
                  <a:srgbClr val="FF0000"/>
                </a:solidFill>
              </a:rPr>
              <a:t>Nivå 1</a:t>
            </a:r>
            <a:r>
              <a:rPr lang="sv-SE" sz="1200"/>
              <a:t>: </a:t>
            </a:r>
            <a:r>
              <a:rPr lang="sv-SE" sz="1200">
                <a:ea typeface="+mn-lt"/>
                <a:cs typeface="+mn-lt"/>
              </a:rPr>
              <a:t>Förbättringar har bara skett enstaka gånger på grund av personalens frustration.</a:t>
            </a:r>
            <a:endParaRPr lang="sv-SE" sz="1200"/>
          </a:p>
          <a:p>
            <a:pPr marL="285750" indent="-285750">
              <a:buFont typeface="Arial"/>
              <a:buChar char="•"/>
            </a:pPr>
            <a:endParaRPr lang="sv-SE"/>
          </a:p>
        </p:txBody>
      </p:sp>
      <p:sp>
        <p:nvSpPr>
          <p:cNvPr id="12" name="textruta 11">
            <a:extLst>
              <a:ext uri="{FF2B5EF4-FFF2-40B4-BE49-F238E27FC236}">
                <a16:creationId xmlns:a16="http://schemas.microsoft.com/office/drawing/2014/main" id="{6EF312CF-BE74-E889-31DC-5ADAF6567083}"/>
              </a:ext>
            </a:extLst>
          </p:cNvPr>
          <p:cNvSpPr txBox="1"/>
          <p:nvPr/>
        </p:nvSpPr>
        <p:spPr>
          <a:xfrm>
            <a:off x="6268915" y="1781907"/>
            <a:ext cx="2193680"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sv-SE" sz="1200"/>
              <a:t>Arbetssätt </a:t>
            </a:r>
            <a:r>
              <a:rPr lang="sv-SE" sz="1200">
                <a:solidFill>
                  <a:srgbClr val="FFC000"/>
                </a:solidFill>
              </a:rPr>
              <a:t>Nivå 2</a:t>
            </a:r>
            <a:r>
              <a:rPr lang="sv-SE" sz="1200"/>
              <a:t>: Det finns arbetssätt om upphandlingsprocessen. </a:t>
            </a:r>
            <a:r>
              <a:rPr lang="sv-SE" sz="1200" err="1"/>
              <a:t>Infosäk</a:t>
            </a:r>
            <a:r>
              <a:rPr lang="sv-SE" sz="1200"/>
              <a:t> är inget uttalat fokus. Policy tar upp lite. </a:t>
            </a:r>
          </a:p>
          <a:p>
            <a:pPr marL="285750" indent="-285750">
              <a:buFont typeface="Arial"/>
              <a:buChar char="•"/>
            </a:pPr>
            <a:endParaRPr lang="sv-SE" sz="1200"/>
          </a:p>
          <a:p>
            <a:pPr marL="285750" indent="-285750">
              <a:buFont typeface="Arial"/>
              <a:buChar char="•"/>
            </a:pPr>
            <a:r>
              <a:rPr lang="sv-SE" sz="1200"/>
              <a:t>Tillämpning </a:t>
            </a:r>
            <a:r>
              <a:rPr lang="sv-SE" sz="1200">
                <a:solidFill>
                  <a:srgbClr val="FF0000"/>
                </a:solidFill>
              </a:rPr>
              <a:t>Nivå 1</a:t>
            </a:r>
            <a:r>
              <a:rPr lang="sv-SE" sz="1200"/>
              <a:t>: Fokus på kostnader istället för </a:t>
            </a:r>
            <a:r>
              <a:rPr lang="sv-SE" sz="1200" err="1"/>
              <a:t>infosäk</a:t>
            </a:r>
            <a:r>
              <a:rPr lang="sv-SE" sz="1200"/>
              <a:t>.</a:t>
            </a:r>
          </a:p>
          <a:p>
            <a:pPr marL="285750" indent="-285750">
              <a:buFont typeface="Arial"/>
              <a:buChar char="•"/>
            </a:pPr>
            <a:endParaRPr lang="sv-SE" sz="1200"/>
          </a:p>
          <a:p>
            <a:pPr marL="285750" indent="-285750">
              <a:buFont typeface="Arial"/>
              <a:buChar char="•"/>
            </a:pPr>
            <a:r>
              <a:rPr lang="sv-SE" sz="1200"/>
              <a:t>Resultat </a:t>
            </a:r>
            <a:r>
              <a:rPr lang="sv-SE" sz="1200">
                <a:solidFill>
                  <a:srgbClr val="FF0000"/>
                </a:solidFill>
              </a:rPr>
              <a:t>Nivå 1</a:t>
            </a:r>
            <a:r>
              <a:rPr lang="sv-SE" sz="1200"/>
              <a:t>: Inga krav på uppföljning av avtal &amp; inga mål</a:t>
            </a:r>
          </a:p>
          <a:p>
            <a:pPr marL="285750" indent="-285750">
              <a:buFont typeface="Arial"/>
              <a:buChar char="•"/>
            </a:pPr>
            <a:endParaRPr lang="sv-SE" sz="1200"/>
          </a:p>
          <a:p>
            <a:pPr marL="285750" indent="-285750">
              <a:buFont typeface="Arial"/>
              <a:buChar char="•"/>
            </a:pPr>
            <a:r>
              <a:rPr lang="sv-SE" sz="1200"/>
              <a:t>Följa upp lära &amp; förbättra </a:t>
            </a:r>
            <a:r>
              <a:rPr lang="sv-SE" sz="1200">
                <a:solidFill>
                  <a:srgbClr val="FF0000"/>
                </a:solidFill>
              </a:rPr>
              <a:t>Nivå 1</a:t>
            </a:r>
            <a:r>
              <a:rPr lang="sv-SE" sz="1200"/>
              <a:t>: </a:t>
            </a:r>
            <a:r>
              <a:rPr lang="sv-SE" sz="1200">
                <a:ea typeface="+mn-lt"/>
                <a:cs typeface="+mn-lt"/>
              </a:rPr>
              <a:t>Svårt att följa upp och se lärande. Ingen dokumentation, inga klagomål just nu.</a:t>
            </a:r>
            <a:endParaRPr lang="en-US" sz="1200">
              <a:ea typeface="+mn-lt"/>
              <a:cs typeface="+mn-lt"/>
            </a:endParaRPr>
          </a:p>
          <a:p>
            <a:pPr marL="285750" indent="-285750">
              <a:buFont typeface="Arial"/>
              <a:buChar char="•"/>
            </a:pPr>
            <a:endParaRPr lang="sv-SE"/>
          </a:p>
          <a:p>
            <a:pPr marL="285750" indent="-285750">
              <a:buFont typeface="Arial"/>
              <a:buChar char="•"/>
            </a:pPr>
            <a:endParaRPr lang="sv-SE"/>
          </a:p>
          <a:p>
            <a:pPr marL="285750" indent="-285750">
              <a:buFont typeface="Arial"/>
              <a:buChar char="•"/>
            </a:pPr>
            <a:endParaRPr lang="sv-SE"/>
          </a:p>
          <a:p>
            <a:pPr marL="285750" indent="-285750">
              <a:buFont typeface="Arial"/>
              <a:buChar char="•"/>
            </a:pPr>
            <a:endParaRPr lang="sv-SE"/>
          </a:p>
          <a:p>
            <a:pPr marL="285750" indent="-285750">
              <a:buFont typeface="Arial"/>
              <a:buChar char="•"/>
            </a:pPr>
            <a:endParaRPr lang="sv-SE"/>
          </a:p>
          <a:p>
            <a:pPr marL="285750" indent="-285750">
              <a:buFont typeface="Arial"/>
              <a:buChar char="•"/>
            </a:pPr>
            <a:endParaRPr lang="sv-SE"/>
          </a:p>
        </p:txBody>
      </p:sp>
      <p:pic>
        <p:nvPicPr>
          <p:cNvPr id="14" name="Platshållare för innehåll 3" descr="En bild som visar text, skärmbild, Teckensnitt, dokument&#10;&#10;AI-genererat innehåll kan vara felaktigt.">
            <a:extLst>
              <a:ext uri="{FF2B5EF4-FFF2-40B4-BE49-F238E27FC236}">
                <a16:creationId xmlns:a16="http://schemas.microsoft.com/office/drawing/2014/main" id="{A71CB4EB-0E88-14AF-93A6-5B664ABF1F53}"/>
              </a:ext>
            </a:extLst>
          </p:cNvPr>
          <p:cNvPicPr>
            <a:picLocks noChangeAspect="1"/>
          </p:cNvPicPr>
          <p:nvPr/>
        </p:nvPicPr>
        <p:blipFill>
          <a:blip r:embed="rId3"/>
          <a:stretch>
            <a:fillRect/>
          </a:stretch>
        </p:blipFill>
        <p:spPr>
          <a:xfrm>
            <a:off x="8457947" y="2188096"/>
            <a:ext cx="3428674" cy="2963517"/>
          </a:xfrm>
          <a:prstGeom prst="rect">
            <a:avLst/>
          </a:prstGeom>
        </p:spPr>
      </p:pic>
      <p:sp>
        <p:nvSpPr>
          <p:cNvPr id="15" name="Pil: höger 14">
            <a:extLst>
              <a:ext uri="{FF2B5EF4-FFF2-40B4-BE49-F238E27FC236}">
                <a16:creationId xmlns:a16="http://schemas.microsoft.com/office/drawing/2014/main" id="{1484D12D-A61E-D2A7-04E5-B9E09F842B23}"/>
              </a:ext>
            </a:extLst>
          </p:cNvPr>
          <p:cNvSpPr/>
          <p:nvPr/>
        </p:nvSpPr>
        <p:spPr>
          <a:xfrm rot="5400000">
            <a:off x="9741528" y="1693186"/>
            <a:ext cx="514727" cy="1755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 name="textruta 4">
            <a:extLst>
              <a:ext uri="{FF2B5EF4-FFF2-40B4-BE49-F238E27FC236}">
                <a16:creationId xmlns:a16="http://schemas.microsoft.com/office/drawing/2014/main" id="{BAED1594-2CA4-8BFB-073A-ED2340DA11A3}"/>
              </a:ext>
            </a:extLst>
          </p:cNvPr>
          <p:cNvSpPr txBox="1"/>
          <p:nvPr/>
        </p:nvSpPr>
        <p:spPr>
          <a:xfrm>
            <a:off x="1421060" y="515165"/>
            <a:ext cx="3250733" cy="461665"/>
          </a:xfrm>
          <a:prstGeom prst="rect">
            <a:avLst/>
          </a:prstGeom>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2400"/>
              <a:t>Infoklassning</a:t>
            </a:r>
          </a:p>
        </p:txBody>
      </p:sp>
      <p:sp>
        <p:nvSpPr>
          <p:cNvPr id="10" name="textruta 9">
            <a:extLst>
              <a:ext uri="{FF2B5EF4-FFF2-40B4-BE49-F238E27FC236}">
                <a16:creationId xmlns:a16="http://schemas.microsoft.com/office/drawing/2014/main" id="{4A1C9BAE-FD8B-4774-4A01-0EEC60C9D701}"/>
              </a:ext>
            </a:extLst>
          </p:cNvPr>
          <p:cNvSpPr txBox="1"/>
          <p:nvPr/>
        </p:nvSpPr>
        <p:spPr>
          <a:xfrm>
            <a:off x="7364660" y="515165"/>
            <a:ext cx="3250733" cy="461665"/>
          </a:xfrm>
          <a:prstGeom prst="rect">
            <a:avLst/>
          </a:prstGeom>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2400"/>
              <a:t>Upphandling</a:t>
            </a:r>
          </a:p>
        </p:txBody>
      </p:sp>
      <p:cxnSp>
        <p:nvCxnSpPr>
          <p:cNvPr id="7" name="Rak pilkoppling 6">
            <a:extLst>
              <a:ext uri="{FF2B5EF4-FFF2-40B4-BE49-F238E27FC236}">
                <a16:creationId xmlns:a16="http://schemas.microsoft.com/office/drawing/2014/main" id="{1CD18D5F-4259-EA4F-A548-2D0F94FB26BC}"/>
              </a:ext>
            </a:extLst>
          </p:cNvPr>
          <p:cNvCxnSpPr/>
          <p:nvPr/>
        </p:nvCxnSpPr>
        <p:spPr>
          <a:xfrm flipH="1">
            <a:off x="5968999" y="-198005"/>
            <a:ext cx="9525" cy="7419974"/>
          </a:xfrm>
          <a:prstGeom prst="straightConnector1">
            <a:avLst/>
          </a:prstGeom>
          <a:ln>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2832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BAA9BDE8-F734-D23E-2DC0-8D779ECB5504}"/>
              </a:ext>
            </a:extLst>
          </p:cNvPr>
          <p:cNvSpPr>
            <a:spLocks noGrp="1"/>
          </p:cNvSpPr>
          <p:nvPr>
            <p:ph type="title"/>
          </p:nvPr>
        </p:nvSpPr>
        <p:spPr>
          <a:xfrm>
            <a:off x="939800" y="85725"/>
            <a:ext cx="10515600" cy="1325563"/>
          </a:xfrm>
        </p:spPr>
        <p:txBody>
          <a:bodyPr>
            <a:normAutofit/>
          </a:bodyPr>
          <a:lstStyle/>
          <a:p>
            <a:r>
              <a:rPr lang="sv-SE" sz="2400"/>
              <a:t> </a:t>
            </a:r>
          </a:p>
        </p:txBody>
      </p:sp>
      <p:pic>
        <p:nvPicPr>
          <p:cNvPr id="4" name="Platshållare för innehåll 3" descr="En bild som visar text, skärmbild, Teckensnitt, nummer&#10;&#10;AI-genererat innehåll kan vara felaktigt.">
            <a:extLst>
              <a:ext uri="{FF2B5EF4-FFF2-40B4-BE49-F238E27FC236}">
                <a16:creationId xmlns:a16="http://schemas.microsoft.com/office/drawing/2014/main" id="{AD1C385F-D0E5-D993-C9E6-6DDEBE9786B2}"/>
              </a:ext>
            </a:extLst>
          </p:cNvPr>
          <p:cNvPicPr>
            <a:picLocks noGrp="1" noChangeAspect="1"/>
          </p:cNvPicPr>
          <p:nvPr>
            <p:ph idx="1"/>
          </p:nvPr>
        </p:nvPicPr>
        <p:blipFill>
          <a:blip r:embed="rId2"/>
          <a:stretch>
            <a:fillRect/>
          </a:stretch>
        </p:blipFill>
        <p:spPr>
          <a:xfrm>
            <a:off x="2199594" y="1962342"/>
            <a:ext cx="3576701" cy="2932113"/>
          </a:xfrm>
          <a:prstGeom prst="rect">
            <a:avLst/>
          </a:prstGeom>
        </p:spPr>
      </p:pic>
      <p:sp>
        <p:nvSpPr>
          <p:cNvPr id="8" name="textruta 7">
            <a:extLst>
              <a:ext uri="{FF2B5EF4-FFF2-40B4-BE49-F238E27FC236}">
                <a16:creationId xmlns:a16="http://schemas.microsoft.com/office/drawing/2014/main" id="{099AFDF6-CD5D-648E-E87E-DC5B2B1E3236}"/>
              </a:ext>
            </a:extLst>
          </p:cNvPr>
          <p:cNvSpPr txBox="1"/>
          <p:nvPr/>
        </p:nvSpPr>
        <p:spPr>
          <a:xfrm>
            <a:off x="216870" y="1499727"/>
            <a:ext cx="1845775"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sv-SE" sz="1200"/>
              <a:t>Arbetssätt </a:t>
            </a:r>
            <a:r>
              <a:rPr lang="sv-SE" sz="1200">
                <a:solidFill>
                  <a:srgbClr val="FF0000"/>
                </a:solidFill>
              </a:rPr>
              <a:t>Nivå 1</a:t>
            </a:r>
            <a:r>
              <a:rPr lang="sv-SE" sz="1200"/>
              <a:t>: Inga interna utbildningar </a:t>
            </a:r>
          </a:p>
          <a:p>
            <a:pPr marL="285750" indent="-285750">
              <a:buFont typeface="Arial"/>
              <a:buChar char="•"/>
            </a:pPr>
            <a:endParaRPr lang="sv-SE" sz="1200"/>
          </a:p>
          <a:p>
            <a:pPr marL="285750" indent="-285750">
              <a:buFont typeface="Arial"/>
              <a:buChar char="•"/>
            </a:pPr>
            <a:r>
              <a:rPr lang="sv-SE" sz="1200"/>
              <a:t>Tillämpning </a:t>
            </a:r>
            <a:r>
              <a:rPr lang="sv-SE" sz="1200">
                <a:solidFill>
                  <a:srgbClr val="FF0000"/>
                </a:solidFill>
              </a:rPr>
              <a:t>Nivå 1</a:t>
            </a:r>
            <a:r>
              <a:rPr lang="sv-SE" sz="1200"/>
              <a:t>: </a:t>
            </a:r>
            <a:r>
              <a:rPr lang="sv-SE" sz="1200">
                <a:ea typeface="+mn-lt"/>
                <a:cs typeface="+mn-lt"/>
              </a:rPr>
              <a:t>Diskussion om utbildning för enstaka chefer men inga utbildningar har genomförts eller köpts in.</a:t>
            </a:r>
          </a:p>
          <a:p>
            <a:pPr marL="285750" indent="-285750">
              <a:buFont typeface="Arial"/>
              <a:buChar char="•"/>
            </a:pPr>
            <a:endParaRPr lang="sv-SE" sz="1200"/>
          </a:p>
          <a:p>
            <a:pPr marL="285750" indent="-285750">
              <a:buFont typeface="Arial"/>
              <a:buChar char="•"/>
            </a:pPr>
            <a:r>
              <a:rPr lang="sv-SE" sz="1200"/>
              <a:t>Resultat </a:t>
            </a:r>
            <a:r>
              <a:rPr lang="sv-SE" sz="1200">
                <a:solidFill>
                  <a:srgbClr val="FF0000"/>
                </a:solidFill>
              </a:rPr>
              <a:t>Nivå 1</a:t>
            </a:r>
            <a:r>
              <a:rPr lang="sv-SE" sz="1200"/>
              <a:t>: Inga klagomål från ledning och inga utbildningar har genomförts. </a:t>
            </a:r>
          </a:p>
          <a:p>
            <a:pPr marL="285750" indent="-285750">
              <a:buFont typeface="Arial"/>
              <a:buChar char="•"/>
            </a:pPr>
            <a:endParaRPr lang="sv-SE" sz="1200"/>
          </a:p>
          <a:p>
            <a:pPr marL="285750" indent="-285750">
              <a:buFont typeface="Arial"/>
              <a:buChar char="•"/>
            </a:pPr>
            <a:r>
              <a:rPr lang="sv-SE" sz="1200"/>
              <a:t>Följa upp lära &amp; förbättra </a:t>
            </a:r>
            <a:r>
              <a:rPr lang="sv-SE" sz="1200">
                <a:solidFill>
                  <a:srgbClr val="FF0000"/>
                </a:solidFill>
              </a:rPr>
              <a:t>Nivå 1</a:t>
            </a:r>
            <a:r>
              <a:rPr lang="sv-SE" sz="1200"/>
              <a:t>: </a:t>
            </a:r>
            <a:r>
              <a:rPr lang="sv-SE" sz="1200">
                <a:ea typeface="+mn-lt"/>
                <a:cs typeface="+mn-lt"/>
              </a:rPr>
              <a:t>Diskussioner har skett i liten skala om grundläggande utbildningar men ingen förbättring har gjorts.</a:t>
            </a:r>
            <a:endParaRPr lang="en-US" sz="1200"/>
          </a:p>
          <a:p>
            <a:pPr marL="285750" indent="-285750">
              <a:buFont typeface="Arial"/>
              <a:buChar char="•"/>
            </a:pPr>
            <a:endParaRPr lang="sv-SE" sz="1200"/>
          </a:p>
          <a:p>
            <a:pPr marL="285750" indent="-285750">
              <a:buFont typeface="Arial"/>
              <a:buChar char="•"/>
            </a:pPr>
            <a:endParaRPr lang="sv-SE"/>
          </a:p>
        </p:txBody>
      </p:sp>
      <p:sp>
        <p:nvSpPr>
          <p:cNvPr id="10" name="Pil: höger 9">
            <a:extLst>
              <a:ext uri="{FF2B5EF4-FFF2-40B4-BE49-F238E27FC236}">
                <a16:creationId xmlns:a16="http://schemas.microsoft.com/office/drawing/2014/main" id="{7DC73404-5190-D1CA-1517-E1A163E94944}"/>
              </a:ext>
            </a:extLst>
          </p:cNvPr>
          <p:cNvSpPr/>
          <p:nvPr/>
        </p:nvSpPr>
        <p:spPr>
          <a:xfrm rot="5400000">
            <a:off x="3242350" y="1539984"/>
            <a:ext cx="419477" cy="1660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textruta 5">
            <a:extLst>
              <a:ext uri="{FF2B5EF4-FFF2-40B4-BE49-F238E27FC236}">
                <a16:creationId xmlns:a16="http://schemas.microsoft.com/office/drawing/2014/main" id="{F56F58A0-5563-A47E-47C8-037D63C20BEE}"/>
              </a:ext>
            </a:extLst>
          </p:cNvPr>
          <p:cNvSpPr txBox="1"/>
          <p:nvPr/>
        </p:nvSpPr>
        <p:spPr>
          <a:xfrm>
            <a:off x="6277799" y="1501902"/>
            <a:ext cx="1718586" cy="54476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sv-SE" sz="1200"/>
              <a:t>Arbetssätt </a:t>
            </a:r>
            <a:r>
              <a:rPr lang="sv-SE" sz="1200">
                <a:solidFill>
                  <a:srgbClr val="FF0000"/>
                </a:solidFill>
              </a:rPr>
              <a:t>Nivå 1</a:t>
            </a:r>
            <a:r>
              <a:rPr lang="sv-SE" sz="1200"/>
              <a:t>: Inget  genomtänkt arbetssätt och få egenkontroller</a:t>
            </a:r>
          </a:p>
          <a:p>
            <a:pPr marL="285750" indent="-285750">
              <a:buFont typeface="Arial"/>
              <a:buChar char="•"/>
            </a:pPr>
            <a:endParaRPr lang="sv-SE" sz="1200"/>
          </a:p>
          <a:p>
            <a:pPr marL="285750" indent="-285750">
              <a:buFont typeface="Arial"/>
              <a:buChar char="•"/>
            </a:pPr>
            <a:r>
              <a:rPr lang="sv-SE" sz="1200"/>
              <a:t>Tillämpning </a:t>
            </a:r>
            <a:r>
              <a:rPr lang="sv-SE" sz="1200">
                <a:solidFill>
                  <a:srgbClr val="FF0000"/>
                </a:solidFill>
              </a:rPr>
              <a:t>Nivå 1</a:t>
            </a:r>
            <a:r>
              <a:rPr lang="sv-SE" sz="1200"/>
              <a:t>:  Enstaka egenkontroller. Exempelvis antivirus. </a:t>
            </a:r>
          </a:p>
          <a:p>
            <a:pPr marL="285750" indent="-285750">
              <a:buFont typeface="Arial"/>
              <a:buChar char="•"/>
            </a:pPr>
            <a:endParaRPr lang="sv-SE" sz="1200"/>
          </a:p>
          <a:p>
            <a:pPr marL="285750" indent="-285750">
              <a:buFont typeface="Arial"/>
              <a:buChar char="•"/>
            </a:pPr>
            <a:r>
              <a:rPr lang="sv-SE" sz="1200"/>
              <a:t>Resultat </a:t>
            </a:r>
            <a:r>
              <a:rPr lang="sv-SE" sz="1200">
                <a:solidFill>
                  <a:srgbClr val="FF0000"/>
                </a:solidFill>
              </a:rPr>
              <a:t>Nivå 1</a:t>
            </a:r>
            <a:r>
              <a:rPr lang="sv-SE" sz="1200"/>
              <a:t>: Enstaka rapporter utan tydliga resultat. </a:t>
            </a:r>
          </a:p>
          <a:p>
            <a:pPr marL="285750" indent="-285750">
              <a:buFont typeface="Arial"/>
              <a:buChar char="•"/>
            </a:pPr>
            <a:endParaRPr lang="sv-SE" sz="1200"/>
          </a:p>
          <a:p>
            <a:pPr marL="285750" indent="-285750">
              <a:buFont typeface="Arial"/>
              <a:buChar char="•"/>
            </a:pPr>
            <a:r>
              <a:rPr lang="sv-SE" sz="1200"/>
              <a:t>Följa upp lära &amp; förbättra </a:t>
            </a:r>
            <a:r>
              <a:rPr lang="sv-SE" sz="1200">
                <a:solidFill>
                  <a:srgbClr val="FF0000"/>
                </a:solidFill>
              </a:rPr>
              <a:t>Nivå 1</a:t>
            </a:r>
            <a:r>
              <a:rPr lang="sv-SE" sz="1200"/>
              <a:t>: </a:t>
            </a:r>
            <a:r>
              <a:rPr lang="sv-SE" sz="1200">
                <a:ea typeface="+mn-lt"/>
                <a:cs typeface="+mn-lt"/>
              </a:rPr>
              <a:t>Egenkontroller diskuteras sällan och större problem löses enkelt.</a:t>
            </a:r>
          </a:p>
          <a:p>
            <a:pPr marL="285750" indent="-285750">
              <a:buFont typeface="Arial"/>
              <a:buChar char="•"/>
            </a:pPr>
            <a:endParaRPr lang="sv-SE"/>
          </a:p>
          <a:p>
            <a:pPr marL="285750" indent="-285750">
              <a:buFont typeface="Arial"/>
              <a:buChar char="•"/>
            </a:pPr>
            <a:endParaRPr lang="sv-SE"/>
          </a:p>
          <a:p>
            <a:pPr marL="285750" indent="-285750">
              <a:buFont typeface="Arial"/>
              <a:buChar char="•"/>
            </a:pPr>
            <a:endParaRPr lang="sv-SE"/>
          </a:p>
          <a:p>
            <a:pPr marL="285750" indent="-285750">
              <a:buFont typeface="Arial"/>
              <a:buChar char="•"/>
            </a:pPr>
            <a:endParaRPr lang="sv-SE"/>
          </a:p>
        </p:txBody>
      </p:sp>
      <p:pic>
        <p:nvPicPr>
          <p:cNvPr id="9" name="Platshållare för innehåll 3" descr="En bild som visar text, skärmbild, Teckensnitt, dokument&#10;&#10;AI-genererat innehåll kan vara felaktigt.">
            <a:extLst>
              <a:ext uri="{FF2B5EF4-FFF2-40B4-BE49-F238E27FC236}">
                <a16:creationId xmlns:a16="http://schemas.microsoft.com/office/drawing/2014/main" id="{02860730-0D26-1C60-2BC9-9576658A08C5}"/>
              </a:ext>
            </a:extLst>
          </p:cNvPr>
          <p:cNvPicPr>
            <a:picLocks noChangeAspect="1"/>
          </p:cNvPicPr>
          <p:nvPr/>
        </p:nvPicPr>
        <p:blipFill>
          <a:blip r:embed="rId3"/>
          <a:stretch>
            <a:fillRect/>
          </a:stretch>
        </p:blipFill>
        <p:spPr>
          <a:xfrm>
            <a:off x="8269680" y="1962095"/>
            <a:ext cx="3188705" cy="2840038"/>
          </a:xfrm>
          <a:prstGeom prst="rect">
            <a:avLst/>
          </a:prstGeom>
        </p:spPr>
      </p:pic>
      <p:sp>
        <p:nvSpPr>
          <p:cNvPr id="11" name="Pil: höger 10">
            <a:extLst>
              <a:ext uri="{FF2B5EF4-FFF2-40B4-BE49-F238E27FC236}">
                <a16:creationId xmlns:a16="http://schemas.microsoft.com/office/drawing/2014/main" id="{493C15A5-1C79-8EC7-9D9F-A0046606EB8F}"/>
              </a:ext>
            </a:extLst>
          </p:cNvPr>
          <p:cNvSpPr/>
          <p:nvPr/>
        </p:nvSpPr>
        <p:spPr>
          <a:xfrm rot="5400000">
            <a:off x="8881150" y="1539984"/>
            <a:ext cx="419477" cy="1660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textruta 6">
            <a:extLst>
              <a:ext uri="{FF2B5EF4-FFF2-40B4-BE49-F238E27FC236}">
                <a16:creationId xmlns:a16="http://schemas.microsoft.com/office/drawing/2014/main" id="{44089D23-5862-E927-09DC-4E86737ACA13}"/>
              </a:ext>
            </a:extLst>
          </p:cNvPr>
          <p:cNvSpPr txBox="1"/>
          <p:nvPr/>
        </p:nvSpPr>
        <p:spPr>
          <a:xfrm>
            <a:off x="1332160" y="515165"/>
            <a:ext cx="3250733" cy="461665"/>
          </a:xfrm>
          <a:prstGeom prst="rect">
            <a:avLst/>
          </a:prstGeom>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2400"/>
              <a:t>Kompetens</a:t>
            </a:r>
          </a:p>
        </p:txBody>
      </p:sp>
      <p:sp>
        <p:nvSpPr>
          <p:cNvPr id="13" name="textruta 12">
            <a:extLst>
              <a:ext uri="{FF2B5EF4-FFF2-40B4-BE49-F238E27FC236}">
                <a16:creationId xmlns:a16="http://schemas.microsoft.com/office/drawing/2014/main" id="{D4152B39-4640-14AC-1E8A-5B601C0F0995}"/>
              </a:ext>
            </a:extLst>
          </p:cNvPr>
          <p:cNvSpPr txBox="1"/>
          <p:nvPr/>
        </p:nvSpPr>
        <p:spPr>
          <a:xfrm>
            <a:off x="7212260" y="515165"/>
            <a:ext cx="3250733" cy="461665"/>
          </a:xfrm>
          <a:prstGeom prst="rect">
            <a:avLst/>
          </a:prstGeom>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sv-SE" sz="2400"/>
              <a:t>Uppföljning</a:t>
            </a:r>
          </a:p>
        </p:txBody>
      </p:sp>
      <p:cxnSp>
        <p:nvCxnSpPr>
          <p:cNvPr id="12" name="Rak pilkoppling 11">
            <a:extLst>
              <a:ext uri="{FF2B5EF4-FFF2-40B4-BE49-F238E27FC236}">
                <a16:creationId xmlns:a16="http://schemas.microsoft.com/office/drawing/2014/main" id="{A7CB8971-8DA9-3C98-4D03-8406727A165E}"/>
              </a:ext>
            </a:extLst>
          </p:cNvPr>
          <p:cNvCxnSpPr/>
          <p:nvPr/>
        </p:nvCxnSpPr>
        <p:spPr>
          <a:xfrm flipH="1">
            <a:off x="6095999" y="-278823"/>
            <a:ext cx="9525" cy="7419974"/>
          </a:xfrm>
          <a:prstGeom prst="straightConnector1">
            <a:avLst/>
          </a:prstGeom>
          <a:ln>
            <a:solidFill>
              <a:schemeClr val="bg1">
                <a:lumMod val="50000"/>
                <a:lumOff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7124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025A875-AAC9-44AB-6BCC-F8DBA782F381}"/>
              </a:ext>
            </a:extLst>
          </p:cNvPr>
          <p:cNvSpPr>
            <a:spLocks noGrp="1"/>
          </p:cNvSpPr>
          <p:nvPr>
            <p:ph type="title"/>
          </p:nvPr>
        </p:nvSpPr>
        <p:spPr>
          <a:xfrm>
            <a:off x="838200" y="365125"/>
            <a:ext cx="5393361" cy="1325563"/>
          </a:xfrm>
        </p:spPr>
        <p:txBody>
          <a:bodyPr>
            <a:normAutofit/>
          </a:bodyPr>
          <a:lstStyle/>
          <a:p>
            <a:r>
              <a:rPr lang="sv-SE" err="1"/>
              <a:t>PillMedTech:s</a:t>
            </a:r>
            <a:r>
              <a:rPr lang="sv-SE"/>
              <a:t> Styrkor</a:t>
            </a:r>
          </a:p>
        </p:txBody>
      </p:sp>
      <p:sp>
        <p:nvSpPr>
          <p:cNvPr id="3" name="Platshållare för innehåll 2">
            <a:extLst>
              <a:ext uri="{FF2B5EF4-FFF2-40B4-BE49-F238E27FC236}">
                <a16:creationId xmlns:a16="http://schemas.microsoft.com/office/drawing/2014/main" id="{10FCAB12-B238-8DD9-8C8D-30B32D86A066}"/>
              </a:ext>
            </a:extLst>
          </p:cNvPr>
          <p:cNvSpPr>
            <a:spLocks noGrp="1"/>
          </p:cNvSpPr>
          <p:nvPr>
            <p:ph idx="1"/>
          </p:nvPr>
        </p:nvSpPr>
        <p:spPr>
          <a:xfrm>
            <a:off x="838200" y="2506807"/>
            <a:ext cx="5393361" cy="4351338"/>
          </a:xfrm>
        </p:spPr>
        <p:txBody>
          <a:bodyPr vert="horz" lIns="91440" tIns="45720" rIns="91440" bIns="45720" rtlCol="0">
            <a:normAutofit/>
          </a:bodyPr>
          <a:lstStyle/>
          <a:p>
            <a:r>
              <a:rPr lang="sv-SE"/>
              <a:t>Säkerhetskort och Åtkomstnivåer</a:t>
            </a:r>
          </a:p>
          <a:p>
            <a:pPr marL="0" indent="0">
              <a:buNone/>
            </a:pPr>
            <a:endParaRPr lang="sv-SE"/>
          </a:p>
          <a:p>
            <a:r>
              <a:rPr lang="sv-SE"/>
              <a:t>Medvetenhet I Upphandling (Policy)</a:t>
            </a:r>
          </a:p>
          <a:p>
            <a:pPr marL="0" indent="0">
              <a:buNone/>
            </a:pPr>
            <a:endParaRPr lang="sv-SE"/>
          </a:p>
          <a:p>
            <a:r>
              <a:rPr lang="sv-SE"/>
              <a:t>Incidenthantering (Nattlig Server-backup)</a:t>
            </a:r>
          </a:p>
        </p:txBody>
      </p:sp>
      <p:pic>
        <p:nvPicPr>
          <p:cNvPr id="5" name="Bildobjekt 4" descr="En bild som visar skärmbild, blå, Electric blue, aqua&#10;&#10;AI-genererat innehåll kan vara felaktigt.">
            <a:extLst>
              <a:ext uri="{FF2B5EF4-FFF2-40B4-BE49-F238E27FC236}">
                <a16:creationId xmlns:a16="http://schemas.microsoft.com/office/drawing/2014/main" id="{C931EC3D-07E7-BC9C-AF61-BF3DD48A9E13}"/>
              </a:ext>
            </a:extLst>
          </p:cNvPr>
          <p:cNvPicPr>
            <a:picLocks noChangeAspect="1"/>
          </p:cNvPicPr>
          <p:nvPr/>
        </p:nvPicPr>
        <p:blipFill>
          <a:blip r:embed="rId2"/>
          <a:srcRect l="12897" r="20351" b="-2"/>
          <a:stretch>
            <a:fillRect/>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Tree>
    <p:extLst>
      <p:ext uri="{BB962C8B-B14F-4D97-AF65-F5344CB8AC3E}">
        <p14:creationId xmlns:p14="http://schemas.microsoft.com/office/powerpoint/2010/main" val="186131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C65A5A4-FB45-8FF1-4DE2-849BF782C4B1}"/>
              </a:ext>
            </a:extLst>
          </p:cNvPr>
          <p:cNvSpPr>
            <a:spLocks noGrp="1"/>
          </p:cNvSpPr>
          <p:nvPr>
            <p:ph type="title"/>
          </p:nvPr>
        </p:nvSpPr>
        <p:spPr>
          <a:xfrm>
            <a:off x="455177" y="1094855"/>
            <a:ext cx="3824820" cy="3399042"/>
          </a:xfrm>
        </p:spPr>
        <p:txBody>
          <a:bodyPr anchor="b">
            <a:normAutofit/>
          </a:bodyPr>
          <a:lstStyle/>
          <a:p>
            <a:pPr algn="r"/>
            <a:r>
              <a:rPr lang="sv-SE" sz="3400">
                <a:solidFill>
                  <a:srgbClr val="FFFFFF"/>
                </a:solidFill>
              </a:rPr>
              <a:t>Skapa bättre och säkrare arbetsrutiner hos personal &amp; ledningen genom utbildning</a:t>
            </a:r>
          </a:p>
        </p:txBody>
      </p:sp>
      <p:sp>
        <p:nvSpPr>
          <p:cNvPr id="3" name="Platshållare för innehåll 2">
            <a:extLst>
              <a:ext uri="{FF2B5EF4-FFF2-40B4-BE49-F238E27FC236}">
                <a16:creationId xmlns:a16="http://schemas.microsoft.com/office/drawing/2014/main" id="{9A6F6FA8-EFD2-AE75-C2BC-84645B0E2691}"/>
              </a:ext>
            </a:extLst>
          </p:cNvPr>
          <p:cNvSpPr>
            <a:spLocks noGrp="1"/>
          </p:cNvSpPr>
          <p:nvPr>
            <p:ph idx="1"/>
          </p:nvPr>
        </p:nvSpPr>
        <p:spPr>
          <a:xfrm>
            <a:off x="4788172" y="748871"/>
            <a:ext cx="6555347" cy="5546047"/>
          </a:xfrm>
        </p:spPr>
        <p:txBody>
          <a:bodyPr vert="horz" lIns="91440" tIns="45720" rIns="91440" bIns="45720" rtlCol="0" anchor="ctr">
            <a:noAutofit/>
          </a:bodyPr>
          <a:lstStyle/>
          <a:p>
            <a:pPr marL="171450" indent="-171450"/>
            <a:r>
              <a:rPr lang="sv-SE" sz="1400"/>
              <a:t>Nuläget: Personal och ledning saknar förståelse för informationssäkerhet och saknar arbetsrutiner</a:t>
            </a:r>
          </a:p>
          <a:p>
            <a:pPr marL="171450" indent="-171450"/>
            <a:r>
              <a:rPr lang="sv-SE" sz="1400"/>
              <a:t>Att ta fram och införa en grundläggande och digital utbildning</a:t>
            </a:r>
          </a:p>
          <a:p>
            <a:pPr marL="0" indent="0">
              <a:buNone/>
            </a:pPr>
            <a:r>
              <a:rPr lang="sv-SE" sz="1400"/>
              <a:t>1.  Lösenordshantering</a:t>
            </a:r>
          </a:p>
          <a:p>
            <a:pPr marL="0" indent="0">
              <a:buNone/>
            </a:pPr>
            <a:r>
              <a:rPr lang="sv-SE" sz="1400"/>
              <a:t>2.  Informationsklassning</a:t>
            </a:r>
          </a:p>
          <a:p>
            <a:pPr marL="0" indent="0">
              <a:buNone/>
            </a:pPr>
            <a:r>
              <a:rPr lang="sv-SE" sz="1400"/>
              <a:t>3.  Incidenthantering </a:t>
            </a:r>
          </a:p>
          <a:p>
            <a:pPr marL="0" indent="0">
              <a:buNone/>
            </a:pPr>
            <a:r>
              <a:rPr lang="sv-SE" sz="1400"/>
              <a:t>4.  Incidentrapportering </a:t>
            </a:r>
          </a:p>
          <a:p>
            <a:pPr marL="0" indent="0">
              <a:buNone/>
            </a:pPr>
            <a:r>
              <a:rPr lang="sv-SE" sz="1400"/>
              <a:t>5.  Systematiska arbetssätt</a:t>
            </a:r>
          </a:p>
          <a:p>
            <a:pPr marL="0" indent="0">
              <a:buNone/>
            </a:pPr>
            <a:endParaRPr lang="sv-SE" sz="1400"/>
          </a:p>
          <a:p>
            <a:pPr marL="171450" indent="-171450"/>
            <a:r>
              <a:rPr lang="sv-SE" sz="1400"/>
              <a:t>Obligatorisk, kompletteras årligen</a:t>
            </a:r>
          </a:p>
          <a:p>
            <a:pPr marL="171450" indent="-171450"/>
            <a:r>
              <a:rPr lang="sv-SE" sz="1400"/>
              <a:t>Ansvarig:  Göran Rubens</a:t>
            </a:r>
          </a:p>
          <a:p>
            <a:pPr marL="0" indent="0">
              <a:buNone/>
            </a:pPr>
            <a:endParaRPr lang="sv-SE" sz="1400"/>
          </a:p>
          <a:p>
            <a:pPr marL="171450" indent="-171450"/>
            <a:r>
              <a:rPr lang="sv-SE" sz="1400"/>
              <a:t>Höja medvetenheten om säkerhet, minska sannolikheten för mänskliga misstag och stärka säkerhetskulturen i företaget.</a:t>
            </a:r>
          </a:p>
          <a:p>
            <a:pPr marL="0" indent="0">
              <a:buNone/>
            </a:pPr>
            <a:endParaRPr lang="sv-SE" sz="1400"/>
          </a:p>
          <a:p>
            <a:pPr marL="171450" indent="-171450"/>
            <a:r>
              <a:rPr lang="sv-SE" sz="1400"/>
              <a:t>Affärsnytta: Minskade framtida förluster och ökad produktivitet.</a:t>
            </a:r>
          </a:p>
          <a:p>
            <a:pPr marL="171450" indent="-171450"/>
            <a:endParaRPr lang="sv-SE" sz="1400"/>
          </a:p>
          <a:p>
            <a:pPr marL="0" indent="0">
              <a:buNone/>
            </a:pPr>
            <a:endParaRPr lang="sv-SE" sz="1400"/>
          </a:p>
        </p:txBody>
      </p:sp>
      <p:sp>
        <p:nvSpPr>
          <p:cNvPr id="4" name="textruta 3">
            <a:extLst>
              <a:ext uri="{FF2B5EF4-FFF2-40B4-BE49-F238E27FC236}">
                <a16:creationId xmlns:a16="http://schemas.microsoft.com/office/drawing/2014/main" id="{ECD6FE39-D098-956C-C969-7873C8516582}"/>
              </a:ext>
            </a:extLst>
          </p:cNvPr>
          <p:cNvSpPr txBox="1"/>
          <p:nvPr/>
        </p:nvSpPr>
        <p:spPr>
          <a:xfrm>
            <a:off x="230963" y="173222"/>
            <a:ext cx="92385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sv-SE" sz="3200"/>
              <a:t>#1</a:t>
            </a:r>
          </a:p>
        </p:txBody>
      </p:sp>
    </p:spTree>
    <p:extLst>
      <p:ext uri="{BB962C8B-B14F-4D97-AF65-F5344CB8AC3E}">
        <p14:creationId xmlns:p14="http://schemas.microsoft.com/office/powerpoint/2010/main" val="1792334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3368AFA-C4D6-2F6D-26BF-6E9869AB82E5}"/>
              </a:ext>
            </a:extLst>
          </p:cNvPr>
          <p:cNvSpPr>
            <a:spLocks noGrp="1"/>
          </p:cNvSpPr>
          <p:nvPr>
            <p:ph type="title"/>
          </p:nvPr>
        </p:nvSpPr>
        <p:spPr>
          <a:xfrm>
            <a:off x="443631" y="817763"/>
            <a:ext cx="3813274" cy="3722314"/>
          </a:xfrm>
        </p:spPr>
        <p:txBody>
          <a:bodyPr vert="horz" lIns="91440" tIns="45720" rIns="91440" bIns="45720" rtlCol="0" anchor="b">
            <a:noAutofit/>
          </a:bodyPr>
          <a:lstStyle/>
          <a:p>
            <a:pPr algn="r"/>
            <a:r>
              <a:rPr lang="sv-SE" sz="3600">
                <a:solidFill>
                  <a:srgbClr val="FFFFFF"/>
                </a:solidFill>
                <a:latin typeface="Aptos"/>
              </a:rPr>
              <a:t>Identifiera, minimera dagens &amp; framtidens risker samt deras konsekvenser</a:t>
            </a:r>
          </a:p>
          <a:p>
            <a:pPr algn="r"/>
            <a:endParaRPr lang="sv-SE" sz="3100">
              <a:solidFill>
                <a:srgbClr val="FFFFFF"/>
              </a:solidFill>
            </a:endParaRPr>
          </a:p>
        </p:txBody>
      </p:sp>
      <p:sp>
        <p:nvSpPr>
          <p:cNvPr id="3" name="Platshållare för innehåll 2">
            <a:extLst>
              <a:ext uri="{FF2B5EF4-FFF2-40B4-BE49-F238E27FC236}">
                <a16:creationId xmlns:a16="http://schemas.microsoft.com/office/drawing/2014/main" id="{F8B71E22-721D-04A0-B52A-E4D140DD56E9}"/>
              </a:ext>
            </a:extLst>
          </p:cNvPr>
          <p:cNvSpPr>
            <a:spLocks noGrp="1"/>
          </p:cNvSpPr>
          <p:nvPr>
            <p:ph idx="1"/>
          </p:nvPr>
        </p:nvSpPr>
        <p:spPr>
          <a:xfrm>
            <a:off x="4810259" y="649480"/>
            <a:ext cx="6555347" cy="5546047"/>
          </a:xfrm>
        </p:spPr>
        <p:txBody>
          <a:bodyPr vert="horz" lIns="91440" tIns="45720" rIns="91440" bIns="45720" rtlCol="0" anchor="ctr">
            <a:normAutofit fontScale="92500" lnSpcReduction="20000"/>
          </a:bodyPr>
          <a:lstStyle/>
          <a:p>
            <a:r>
              <a:rPr lang="sv-SE" sz="2000"/>
              <a:t>Nuläget: Riskrelaterat arbete sker endast reaktivt. Organisationen saknar kunskap om potentiella risker och deras konsekvenser, samt saknar rutiner och dokumentation.</a:t>
            </a:r>
          </a:p>
          <a:p>
            <a:r>
              <a:rPr lang="sv-SE" sz="2000">
                <a:ea typeface="+mn-lt"/>
                <a:cs typeface="+mn-lt"/>
              </a:rPr>
              <a:t>Genomför årlig riskanalys med stöd av MSB:s metod.</a:t>
            </a:r>
          </a:p>
          <a:p>
            <a:r>
              <a:rPr lang="sv-SE" sz="2000"/>
              <a:t>Skapa en riskhanteringsprocess för personalen.</a:t>
            </a:r>
          </a:p>
          <a:p>
            <a:r>
              <a:rPr lang="sv-SE" sz="2000"/>
              <a:t>Dokumentera inträffade incidenter och beslutade åtgärder, samt tydliggöra ansvaret för respektive område.</a:t>
            </a:r>
          </a:p>
          <a:p>
            <a:r>
              <a:rPr lang="sv-SE" sz="2000"/>
              <a:t>Ansvarig: Göran Rubens</a:t>
            </a:r>
          </a:p>
          <a:p>
            <a:r>
              <a:rPr lang="sv-SE" sz="2000"/>
              <a:t>Minskad chans för allvarliga incidenter, och om de inträffar, begränsas skadorna snabbt. Detta sparar tid och pengar.</a:t>
            </a:r>
          </a:p>
        </p:txBody>
      </p:sp>
      <p:sp>
        <p:nvSpPr>
          <p:cNvPr id="4" name="textruta 3">
            <a:extLst>
              <a:ext uri="{FF2B5EF4-FFF2-40B4-BE49-F238E27FC236}">
                <a16:creationId xmlns:a16="http://schemas.microsoft.com/office/drawing/2014/main" id="{8670512D-D31B-9D66-A3BA-A553330E9311}"/>
              </a:ext>
            </a:extLst>
          </p:cNvPr>
          <p:cNvSpPr txBox="1"/>
          <p:nvPr/>
        </p:nvSpPr>
        <p:spPr>
          <a:xfrm>
            <a:off x="175491" y="233218"/>
            <a:ext cx="27432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3200"/>
              <a:t>#2</a:t>
            </a:r>
            <a:endParaRPr lang="sv-SE"/>
          </a:p>
        </p:txBody>
      </p:sp>
    </p:spTree>
    <p:extLst>
      <p:ext uri="{BB962C8B-B14F-4D97-AF65-F5344CB8AC3E}">
        <p14:creationId xmlns:p14="http://schemas.microsoft.com/office/powerpoint/2010/main" val="1792794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C51809-31D1-CD4B-663A-A67134EC73DD}"/>
              </a:ext>
            </a:extLst>
          </p:cNvPr>
          <p:cNvSpPr>
            <a:spLocks noGrp="1"/>
          </p:cNvSpPr>
          <p:nvPr>
            <p:ph type="title"/>
          </p:nvPr>
        </p:nvSpPr>
        <p:spPr>
          <a:xfrm>
            <a:off x="836177" y="1175674"/>
            <a:ext cx="3201366" cy="3387497"/>
          </a:xfrm>
        </p:spPr>
        <p:txBody>
          <a:bodyPr anchor="b">
            <a:normAutofit/>
          </a:bodyPr>
          <a:lstStyle/>
          <a:p>
            <a:pPr algn="r"/>
            <a:r>
              <a:rPr lang="sv-SE" sz="4000">
                <a:solidFill>
                  <a:srgbClr val="FFFFFF"/>
                </a:solidFill>
              </a:rPr>
              <a:t>Rapportera, hantera och lär från tidigare incidenter</a:t>
            </a:r>
          </a:p>
        </p:txBody>
      </p:sp>
      <p:sp>
        <p:nvSpPr>
          <p:cNvPr id="3" name="Platshållare för innehåll 2">
            <a:extLst>
              <a:ext uri="{FF2B5EF4-FFF2-40B4-BE49-F238E27FC236}">
                <a16:creationId xmlns:a16="http://schemas.microsoft.com/office/drawing/2014/main" id="{39A8200C-D925-A47A-7241-A5FE0E84FF97}"/>
              </a:ext>
            </a:extLst>
          </p:cNvPr>
          <p:cNvSpPr>
            <a:spLocks noGrp="1"/>
          </p:cNvSpPr>
          <p:nvPr>
            <p:ph idx="1"/>
          </p:nvPr>
        </p:nvSpPr>
        <p:spPr>
          <a:xfrm>
            <a:off x="4810259" y="649480"/>
            <a:ext cx="6555347" cy="5546047"/>
          </a:xfrm>
        </p:spPr>
        <p:txBody>
          <a:bodyPr vert="horz" lIns="91440" tIns="45720" rIns="91440" bIns="45720" rtlCol="0" anchor="ctr">
            <a:normAutofit fontScale="92500"/>
          </a:bodyPr>
          <a:lstStyle/>
          <a:p>
            <a:r>
              <a:rPr lang="sv-SE" sz="2000"/>
              <a:t>Saknar tydliga rutiner incidenthantering och dokumentation</a:t>
            </a:r>
          </a:p>
          <a:p>
            <a:endParaRPr lang="sv-SE" sz="2000"/>
          </a:p>
          <a:p>
            <a:r>
              <a:rPr lang="sv-SE" sz="2000"/>
              <a:t>Skapa tydlig incidenthanteringsprocess med rutiner för rapportering, utredning och uppföljning</a:t>
            </a:r>
          </a:p>
          <a:p>
            <a:r>
              <a:rPr lang="sv-SE" sz="2000"/>
              <a:t>Föra dokumentation om tidigare incidenter</a:t>
            </a:r>
          </a:p>
          <a:p>
            <a:r>
              <a:rPr lang="sv-SE" sz="2000"/>
              <a:t>Årlig utvärdering av incidenthanteringsprocessen </a:t>
            </a:r>
          </a:p>
          <a:p>
            <a:r>
              <a:rPr lang="sv-SE" sz="2000"/>
              <a:t>Ansvarig: Göran Rubens </a:t>
            </a:r>
          </a:p>
          <a:p>
            <a:endParaRPr lang="sv-SE" sz="2000"/>
          </a:p>
          <a:p>
            <a:r>
              <a:rPr lang="sv-SE" sz="2000"/>
              <a:t>Snabba åtgärder, Tryggare personal.</a:t>
            </a:r>
          </a:p>
          <a:p>
            <a:r>
              <a:rPr lang="sv-SE" sz="2000"/>
              <a:t>Affärsnytta: Total produktion ökar (mindre </a:t>
            </a:r>
            <a:r>
              <a:rPr lang="sv-SE" sz="2000" err="1"/>
              <a:t>downtime</a:t>
            </a:r>
            <a:r>
              <a:rPr lang="sv-SE" sz="2000"/>
              <a:t>)</a:t>
            </a:r>
          </a:p>
          <a:p>
            <a:pPr marL="0" indent="0">
              <a:buNone/>
            </a:pPr>
            <a:r>
              <a:rPr lang="sv-SE" sz="2000"/>
              <a:t> </a:t>
            </a:r>
          </a:p>
        </p:txBody>
      </p:sp>
      <p:sp>
        <p:nvSpPr>
          <p:cNvPr id="4" name="textruta 3">
            <a:extLst>
              <a:ext uri="{FF2B5EF4-FFF2-40B4-BE49-F238E27FC236}">
                <a16:creationId xmlns:a16="http://schemas.microsoft.com/office/drawing/2014/main" id="{84531594-23B8-32FC-755F-6C67365E63BF}"/>
              </a:ext>
            </a:extLst>
          </p:cNvPr>
          <p:cNvSpPr txBox="1"/>
          <p:nvPr/>
        </p:nvSpPr>
        <p:spPr>
          <a:xfrm>
            <a:off x="106218" y="175491"/>
            <a:ext cx="27432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3200"/>
              <a:t>#3</a:t>
            </a:r>
            <a:endParaRPr lang="sv-SE"/>
          </a:p>
        </p:txBody>
      </p:sp>
    </p:spTree>
    <p:extLst>
      <p:ext uri="{BB962C8B-B14F-4D97-AF65-F5344CB8AC3E}">
        <p14:creationId xmlns:p14="http://schemas.microsoft.com/office/powerpoint/2010/main" val="2238927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F4C6309-8374-00C4-9C18-29A0F3E9E889}"/>
              </a:ext>
            </a:extLst>
          </p:cNvPr>
          <p:cNvSpPr>
            <a:spLocks noGrp="1"/>
          </p:cNvSpPr>
          <p:nvPr>
            <p:ph type="title"/>
          </p:nvPr>
        </p:nvSpPr>
        <p:spPr>
          <a:xfrm>
            <a:off x="1371599" y="294538"/>
            <a:ext cx="9895951" cy="1033669"/>
          </a:xfrm>
        </p:spPr>
        <p:txBody>
          <a:bodyPr>
            <a:normAutofit/>
          </a:bodyPr>
          <a:lstStyle/>
          <a:p>
            <a:r>
              <a:rPr lang="sv-SE" sz="4000">
                <a:solidFill>
                  <a:srgbClr val="FFFFFF"/>
                </a:solidFill>
              </a:rPr>
              <a:t>Affärsnytta </a:t>
            </a:r>
          </a:p>
        </p:txBody>
      </p:sp>
      <p:sp>
        <p:nvSpPr>
          <p:cNvPr id="3" name="Platshållare för innehåll 2">
            <a:extLst>
              <a:ext uri="{FF2B5EF4-FFF2-40B4-BE49-F238E27FC236}">
                <a16:creationId xmlns:a16="http://schemas.microsoft.com/office/drawing/2014/main" id="{C5A8F2BD-2235-DD0F-880E-7F920BF8EE19}"/>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sv-SE" sz="2000"/>
              <a:t>Varför ska vi prioritera detta?</a:t>
            </a:r>
          </a:p>
          <a:p>
            <a:r>
              <a:rPr lang="sv-SE" sz="2000"/>
              <a:t>Detta behövs göras så tidigt som möjligt, med tanke på hur omvärlden ser ut just nu när krig och kris råder världen över, för att skydda mot framtida och nutida hot innan det sker en incident. Genom att kunna uppnå kraven från ISO standarderna och NIS2 kan detta förhindras.</a:t>
            </a:r>
          </a:p>
          <a:p>
            <a:endParaRPr lang="sv-SE" sz="2000"/>
          </a:p>
          <a:p>
            <a:r>
              <a:rPr lang="sv-SE" sz="2000"/>
              <a:t>Vad kan </a:t>
            </a:r>
            <a:r>
              <a:rPr lang="sv-SE" sz="2000" err="1"/>
              <a:t>PillMedTech</a:t>
            </a:r>
            <a:r>
              <a:rPr lang="sv-SE" sz="2000"/>
              <a:t> tjäna på att göra detta?</a:t>
            </a:r>
          </a:p>
          <a:p>
            <a:r>
              <a:rPr lang="sv-SE" sz="2000"/>
              <a:t>Detta leder till ökat rykte för </a:t>
            </a:r>
            <a:r>
              <a:rPr lang="sv-SE" sz="2000" err="1"/>
              <a:t>PillMedTech</a:t>
            </a:r>
            <a:r>
              <a:rPr lang="sv-SE" sz="2000"/>
              <a:t> som företag och som producent av vacciner och mediciner till butiker och apotek runt om i landet. Det leder också till ökad produktionssäkerhet vilket leder till mindre stopp i produktionen och på så sätt spara pengar på underhåll och tjäna på mera produkter tillverkade.</a:t>
            </a:r>
          </a:p>
          <a:p>
            <a:pPr marL="0" indent="0">
              <a:buNone/>
            </a:pPr>
            <a:endParaRPr lang="sv-SE" sz="2000"/>
          </a:p>
        </p:txBody>
      </p:sp>
    </p:spTree>
    <p:extLst>
      <p:ext uri="{BB962C8B-B14F-4D97-AF65-F5344CB8AC3E}">
        <p14:creationId xmlns:p14="http://schemas.microsoft.com/office/powerpoint/2010/main" val="1888040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76898-B6CF-CE17-2DCB-19BA740690DD}"/>
              </a:ext>
            </a:extLst>
          </p:cNvPr>
          <p:cNvSpPr>
            <a:spLocks noGrp="1"/>
          </p:cNvSpPr>
          <p:nvPr>
            <p:ph type="title"/>
          </p:nvPr>
        </p:nvSpPr>
        <p:spPr>
          <a:xfrm>
            <a:off x="1371599" y="294538"/>
            <a:ext cx="9895951" cy="1033669"/>
          </a:xfrm>
        </p:spPr>
        <p:txBody>
          <a:bodyPr>
            <a:normAutofit/>
          </a:bodyPr>
          <a:lstStyle/>
          <a:p>
            <a:pPr algn="ctr"/>
            <a:r>
              <a:rPr lang="sv-SE" sz="4000">
                <a:solidFill>
                  <a:srgbClr val="FFFFFF"/>
                </a:solidFill>
              </a:rPr>
              <a:t>Framtiden</a:t>
            </a:r>
            <a:endParaRPr lang="sv-SE"/>
          </a:p>
        </p:txBody>
      </p:sp>
      <p:sp>
        <p:nvSpPr>
          <p:cNvPr id="3" name="Content Placeholder 2">
            <a:extLst>
              <a:ext uri="{FF2B5EF4-FFF2-40B4-BE49-F238E27FC236}">
                <a16:creationId xmlns:a16="http://schemas.microsoft.com/office/drawing/2014/main" id="{EFF198B8-073A-D4F3-FE4B-72DFD50031F1}"/>
              </a:ext>
            </a:extLst>
          </p:cNvPr>
          <p:cNvSpPr>
            <a:spLocks noGrp="1"/>
          </p:cNvSpPr>
          <p:nvPr>
            <p:ph idx="1"/>
          </p:nvPr>
        </p:nvSpPr>
        <p:spPr>
          <a:xfrm>
            <a:off x="1371599" y="2318197"/>
            <a:ext cx="9724031" cy="3683358"/>
          </a:xfrm>
        </p:spPr>
        <p:txBody>
          <a:bodyPr vert="horz" lIns="91440" tIns="45720" rIns="91440" bIns="45720" rtlCol="0" anchor="ctr">
            <a:normAutofit/>
          </a:bodyPr>
          <a:lstStyle/>
          <a:p>
            <a:r>
              <a:rPr lang="sv-SE" sz="2000"/>
              <a:t>NIS2 är ett EU direktiv som gäller från januari 2026. Den ställer höga information &amp; Cybersäkerhet krav på samhällsviktiga organisationer och företag, PMT inkluderat. Detta blir lag, är inte en fråga OM, snarare HUR vi ska uppfylla dessa krav.</a:t>
            </a:r>
          </a:p>
          <a:p>
            <a:pPr marL="0" indent="0">
              <a:buNone/>
            </a:pPr>
            <a:endParaRPr lang="sv-SE" sz="2000"/>
          </a:p>
          <a:p>
            <a:pPr marL="0" indent="0">
              <a:buNone/>
            </a:pPr>
            <a:endParaRPr lang="sv-SE" sz="2000"/>
          </a:p>
          <a:p>
            <a:r>
              <a:rPr lang="sv-SE" sz="2000"/>
              <a:t>Internationell erkänd standard, ISO 27001 Certifiering är ett bra sätt att uppnå många av NIS 2 kraven.</a:t>
            </a:r>
          </a:p>
          <a:p>
            <a:pPr>
              <a:buFont typeface="Calibri" panose="020B0604020202020204" pitchFamily="34" charset="0"/>
              <a:buChar char="-"/>
            </a:pPr>
            <a:endParaRPr lang="sv-SE" sz="2000"/>
          </a:p>
        </p:txBody>
      </p:sp>
    </p:spTree>
    <p:extLst>
      <p:ext uri="{BB962C8B-B14F-4D97-AF65-F5344CB8AC3E}">
        <p14:creationId xmlns:p14="http://schemas.microsoft.com/office/powerpoint/2010/main" val="3821852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756D120-8E0F-0D79-3A13-145D8BE115F0}"/>
              </a:ext>
            </a:extLst>
          </p:cNvPr>
          <p:cNvSpPr>
            <a:spLocks noGrp="1"/>
          </p:cNvSpPr>
          <p:nvPr>
            <p:ph type="title"/>
          </p:nvPr>
        </p:nvSpPr>
        <p:spPr>
          <a:xfrm>
            <a:off x="1371599" y="294538"/>
            <a:ext cx="9895951" cy="1033669"/>
          </a:xfrm>
        </p:spPr>
        <p:txBody>
          <a:bodyPr>
            <a:normAutofit/>
          </a:bodyPr>
          <a:lstStyle/>
          <a:p>
            <a:r>
              <a:rPr lang="sv-SE" sz="4000">
                <a:solidFill>
                  <a:srgbClr val="FFFFFF"/>
                </a:solidFill>
              </a:rPr>
              <a:t>Sammanfattning</a:t>
            </a:r>
          </a:p>
        </p:txBody>
      </p:sp>
      <p:sp>
        <p:nvSpPr>
          <p:cNvPr id="3" name="Platshållare för innehåll 2">
            <a:extLst>
              <a:ext uri="{FF2B5EF4-FFF2-40B4-BE49-F238E27FC236}">
                <a16:creationId xmlns:a16="http://schemas.microsoft.com/office/drawing/2014/main" id="{808FAD9C-7229-7536-673E-B54B779FE02E}"/>
              </a:ext>
            </a:extLst>
          </p:cNvPr>
          <p:cNvSpPr>
            <a:spLocks noGrp="1"/>
          </p:cNvSpPr>
          <p:nvPr>
            <p:ph idx="1"/>
          </p:nvPr>
        </p:nvSpPr>
        <p:spPr>
          <a:xfrm>
            <a:off x="1371599" y="2318197"/>
            <a:ext cx="9724031" cy="3683358"/>
          </a:xfrm>
        </p:spPr>
        <p:txBody>
          <a:bodyPr anchor="ctr">
            <a:normAutofit lnSpcReduction="10000"/>
          </a:bodyPr>
          <a:lstStyle/>
          <a:p>
            <a:r>
              <a:rPr lang="sv-SE" sz="2000" dirty="0"/>
              <a:t>Nuläget</a:t>
            </a:r>
          </a:p>
          <a:p>
            <a:pPr marL="0" indent="0">
              <a:buNone/>
            </a:pPr>
            <a:r>
              <a:rPr lang="sv-SE" dirty="0"/>
              <a:t>  </a:t>
            </a:r>
            <a:r>
              <a:rPr lang="sv-SE" sz="1200" dirty="0"/>
              <a:t>Mognadsnivå 1, Rutiner &amp; Systematiska arbetssätt, Styrkor</a:t>
            </a:r>
          </a:p>
          <a:p>
            <a:r>
              <a:rPr lang="sv-SE" sz="2000" dirty="0"/>
              <a:t>Förbättringsförslag</a:t>
            </a:r>
          </a:p>
          <a:p>
            <a:pPr marL="0" indent="0">
              <a:buNone/>
            </a:pPr>
            <a:r>
              <a:rPr lang="sv-SE" sz="2000" dirty="0"/>
              <a:t>  </a:t>
            </a:r>
            <a:r>
              <a:rPr lang="sv-SE" sz="1200" dirty="0"/>
              <a:t>Utbildning, Riskhanteringsprocess, Incidenthanteringsprocess</a:t>
            </a:r>
            <a:r>
              <a:rPr lang="sv-SE" sz="2000" dirty="0"/>
              <a:t> </a:t>
            </a:r>
          </a:p>
          <a:p>
            <a:r>
              <a:rPr lang="sv-SE" sz="2000" dirty="0"/>
              <a:t>Affärsnytta</a:t>
            </a:r>
          </a:p>
          <a:p>
            <a:pPr marL="0" indent="0">
              <a:buNone/>
            </a:pPr>
            <a:r>
              <a:rPr lang="sv-SE" sz="2000" dirty="0"/>
              <a:t>  </a:t>
            </a:r>
            <a:r>
              <a:rPr lang="sv-SE" sz="1200" dirty="0"/>
              <a:t>Minskad risk, Färre driftstopp, Höjt Kundförtroende</a:t>
            </a:r>
          </a:p>
          <a:p>
            <a:r>
              <a:rPr lang="sv-SE" sz="2000" dirty="0"/>
              <a:t>Framtiden</a:t>
            </a:r>
            <a:endParaRPr lang="sv-SE" sz="2000"/>
          </a:p>
          <a:p>
            <a:pPr marL="0" indent="0">
              <a:buNone/>
            </a:pPr>
            <a:r>
              <a:rPr lang="sv-SE" sz="2000" dirty="0"/>
              <a:t> </a:t>
            </a:r>
            <a:r>
              <a:rPr lang="sv-SE" sz="1200" dirty="0"/>
              <a:t>  NIS 2, ISO 27001</a:t>
            </a:r>
          </a:p>
          <a:p>
            <a:endParaRPr lang="sv-SE" sz="2000"/>
          </a:p>
        </p:txBody>
      </p:sp>
    </p:spTree>
    <p:extLst>
      <p:ext uri="{BB962C8B-B14F-4D97-AF65-F5344CB8AC3E}">
        <p14:creationId xmlns:p14="http://schemas.microsoft.com/office/powerpoint/2010/main" val="2232835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F6A74903-2D0D-DC5B-547C-2437A7CD9A5C}"/>
              </a:ext>
            </a:extLst>
          </p:cNvPr>
          <p:cNvSpPr>
            <a:spLocks noGrp="1"/>
          </p:cNvSpPr>
          <p:nvPr>
            <p:ph type="title"/>
          </p:nvPr>
        </p:nvSpPr>
        <p:spPr/>
        <p:txBody>
          <a:bodyPr/>
          <a:lstStyle/>
          <a:p>
            <a:r>
              <a:rPr lang="sv-SE"/>
              <a:t>Källor</a:t>
            </a:r>
          </a:p>
        </p:txBody>
      </p:sp>
      <p:sp>
        <p:nvSpPr>
          <p:cNvPr id="3" name="Platshållare för innehåll 2">
            <a:extLst>
              <a:ext uri="{FF2B5EF4-FFF2-40B4-BE49-F238E27FC236}">
                <a16:creationId xmlns:a16="http://schemas.microsoft.com/office/drawing/2014/main" id="{4BC80E99-AFD8-B185-EF8F-5454CC6E7DCC}"/>
              </a:ext>
            </a:extLst>
          </p:cNvPr>
          <p:cNvSpPr>
            <a:spLocks noGrp="1"/>
          </p:cNvSpPr>
          <p:nvPr>
            <p:ph idx="1"/>
          </p:nvPr>
        </p:nvSpPr>
        <p:spPr/>
        <p:txBody>
          <a:bodyPr/>
          <a:lstStyle/>
          <a:p>
            <a:r>
              <a:rPr lang="sv-SE"/>
              <a:t>2-1 PillMedTech_Version_1-4, Infosäkpolicy PillMedtech_fastställd</a:t>
            </a:r>
          </a:p>
          <a:p>
            <a:r>
              <a:rPr lang="sv-SE"/>
              <a:t>https://www.msb.se/sv/amnesomraden/informationssakerhet-cybersakerhet-och-sakra-kommunikationer/arbeta-systematiskt-med-informationssakerhet-och-cybersakerhet/mognadsdialogen/</a:t>
            </a:r>
          </a:p>
          <a:p>
            <a:endParaRPr lang="sv-SE"/>
          </a:p>
        </p:txBody>
      </p:sp>
      <p:sp>
        <p:nvSpPr>
          <p:cNvPr id="4" name="Platshållare för datum 3">
            <a:extLst>
              <a:ext uri="{FF2B5EF4-FFF2-40B4-BE49-F238E27FC236}">
                <a16:creationId xmlns:a16="http://schemas.microsoft.com/office/drawing/2014/main" id="{D479D21B-1A8D-3785-84B1-94E9695D0FF0}"/>
              </a:ext>
            </a:extLst>
          </p:cNvPr>
          <p:cNvSpPr>
            <a:spLocks noGrp="1"/>
          </p:cNvSpPr>
          <p:nvPr>
            <p:ph type="dt" sz="half" idx="10"/>
          </p:nvPr>
        </p:nvSpPr>
        <p:spPr/>
        <p:txBody>
          <a:bodyPr/>
          <a:lstStyle/>
          <a:p>
            <a:fld id="{C105207D-C874-3947-AE51-2B79007639FA}" type="datetime1">
              <a:rPr lang="en-US" dirty="0"/>
              <a:t>6/2/2026</a:t>
            </a:fld>
            <a:endParaRPr lang="en-US"/>
          </a:p>
        </p:txBody>
      </p:sp>
      <p:sp>
        <p:nvSpPr>
          <p:cNvPr id="5" name="Platshållare för sidfot 4">
            <a:extLst>
              <a:ext uri="{FF2B5EF4-FFF2-40B4-BE49-F238E27FC236}">
                <a16:creationId xmlns:a16="http://schemas.microsoft.com/office/drawing/2014/main" id="{DCCEF8BC-6EE4-EFBA-07E6-EDEE78DEDB98}"/>
              </a:ext>
            </a:extLst>
          </p:cNvPr>
          <p:cNvSpPr>
            <a:spLocks noGrp="1"/>
          </p:cNvSpPr>
          <p:nvPr>
            <p:ph type="ftr" sz="quarter" idx="11"/>
          </p:nvPr>
        </p:nvSpPr>
        <p:spPr/>
        <p:txBody>
          <a:bodyPr/>
          <a:lstStyle/>
          <a:p>
            <a:r>
              <a:rPr lang="en-US"/>
              <a:t>
              </a:t>
            </a:r>
          </a:p>
        </p:txBody>
      </p:sp>
      <p:sp>
        <p:nvSpPr>
          <p:cNvPr id="6" name="Platshållare för bildnummer 5">
            <a:extLst>
              <a:ext uri="{FF2B5EF4-FFF2-40B4-BE49-F238E27FC236}">
                <a16:creationId xmlns:a16="http://schemas.microsoft.com/office/drawing/2014/main" id="{9CA63F1A-9D52-FDB7-DE87-92A8AB287996}"/>
              </a:ext>
            </a:extLst>
          </p:cNvPr>
          <p:cNvSpPr>
            <a:spLocks noGrp="1"/>
          </p:cNvSpPr>
          <p:nvPr>
            <p:ph type="sldNum" sz="quarter" idx="12"/>
          </p:nvPr>
        </p:nvSpPr>
        <p:spPr/>
        <p:txBody>
          <a:bodyPr/>
          <a:lstStyle/>
          <a:p>
            <a:fld id="{6E91CC32-6A6B-4E2E-BBA1-6864F305DA26}" type="slidenum">
              <a:rPr lang="en-US" dirty="0"/>
              <a:t>14</a:t>
            </a:fld>
            <a:endParaRPr lang="en-US"/>
          </a:p>
        </p:txBody>
      </p:sp>
    </p:spTree>
    <p:extLst>
      <p:ext uri="{BB962C8B-B14F-4D97-AF65-F5344CB8AC3E}">
        <p14:creationId xmlns:p14="http://schemas.microsoft.com/office/powerpoint/2010/main" val="2480747496"/>
      </p:ext>
    </p:extLst>
  </p:cSld>
  <p:clrMapOvr>
    <a:masterClrMapping/>
  </p:clrMapOvr>
</p:sld>
</file>

<file path=ppt/theme/theme1.xml><?xml version="1.0" encoding="utf-8"?>
<a:theme xmlns:a="http://schemas.openxmlformats.org/drawingml/2006/main" name="DylanVTI">
  <a:themeElements>
    <a:clrScheme name="DylanVTI">
      <a:dk1>
        <a:sysClr val="windowText" lastClr="000000"/>
      </a:dk1>
      <a:lt1>
        <a:sysClr val="window" lastClr="FFFFFF"/>
      </a:lt1>
      <a:dk2>
        <a:srgbClr val="1A1A33"/>
      </a:dk2>
      <a:lt2>
        <a:srgbClr val="EEFFE3"/>
      </a:lt2>
      <a:accent1>
        <a:srgbClr val="5C40EF"/>
      </a:accent1>
      <a:accent2>
        <a:srgbClr val="B8A0F8"/>
      </a:accent2>
      <a:accent3>
        <a:srgbClr val="00C777"/>
      </a:accent3>
      <a:accent4>
        <a:srgbClr val="005A66"/>
      </a:accent4>
      <a:accent5>
        <a:srgbClr val="9956EA"/>
      </a:accent5>
      <a:accent6>
        <a:srgbClr val="9BBB25"/>
      </a:accent6>
      <a:hlink>
        <a:srgbClr val="674CF0"/>
      </a:hlink>
      <a:folHlink>
        <a:srgbClr val="B53699"/>
      </a:folHlink>
    </a:clrScheme>
    <a:fontScheme name="DylanVTI">
      <a:majorFont>
        <a:latin typeface="Neue Haas Grotesk Text Pro"/>
        <a:ea typeface=""/>
        <a:cs typeface=""/>
      </a:majorFont>
      <a:minorFont>
        <a:latin typeface="Neue Haas Grotesk Text Pro"/>
        <a:ea typeface=""/>
        <a:cs typeface=""/>
      </a:minorFont>
    </a:fontScheme>
    <a:fmtScheme name="Dylan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ylanVTI" id="{CD0E21EA-FD0B-4FCD-9D95-B274E3CB7535}" vid="{F2F2D961-94DA-46D9-ABD7-77D6D5FB2C2D}"/>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1018</Words>
  <Application>Microsoft Office PowerPoint</Application>
  <PresentationFormat>Bredbild</PresentationFormat>
  <Paragraphs>197</Paragraphs>
  <Slides>14</Slides>
  <Notes>2</Notes>
  <HiddenSlides>0</HiddenSlides>
  <MMClips>0</MMClips>
  <ScaleCrop>false</ScaleCrop>
  <HeadingPairs>
    <vt:vector size="4" baseType="variant">
      <vt:variant>
        <vt:lpstr>Tema</vt:lpstr>
      </vt:variant>
      <vt:variant>
        <vt:i4>1</vt:i4>
      </vt:variant>
      <vt:variant>
        <vt:lpstr>Bildrubriker</vt:lpstr>
      </vt:variant>
      <vt:variant>
        <vt:i4>14</vt:i4>
      </vt:variant>
    </vt:vector>
  </HeadingPairs>
  <TitlesOfParts>
    <vt:vector size="15" baseType="lpstr">
      <vt:lpstr>DylanVTI</vt:lpstr>
      <vt:lpstr>Ledningens genomgång</vt:lpstr>
      <vt:lpstr>Vad är Mognadsdialogen</vt:lpstr>
      <vt:lpstr>PillMedTech:s Mognad</vt:lpstr>
      <vt:lpstr>                                                                  </vt:lpstr>
      <vt:lpstr>              </vt:lpstr>
      <vt:lpstr> </vt:lpstr>
      <vt:lpstr>PillMedTech:s Styrkor</vt:lpstr>
      <vt:lpstr>Skapa bättre och säkrare arbetsrutiner hos personal &amp; ledningen genom utbildning</vt:lpstr>
      <vt:lpstr>Identifiera, minimera dagens &amp; framtidens risker samt deras konsekvenser </vt:lpstr>
      <vt:lpstr>Rapportera, hantera och lär från tidigare incidenter</vt:lpstr>
      <vt:lpstr>Affärsnytta </vt:lpstr>
      <vt:lpstr>Framtiden</vt:lpstr>
      <vt:lpstr>Sammanfattning</vt:lpstr>
      <vt:lpstr>Källor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Max M</cp:lastModifiedBy>
  <cp:revision>2</cp:revision>
  <dcterms:created xsi:type="dcterms:W3CDTF">2025-08-25T11:30:15Z</dcterms:created>
  <dcterms:modified xsi:type="dcterms:W3CDTF">2026-06-02T12:30:03Z</dcterms:modified>
</cp:coreProperties>
</file>